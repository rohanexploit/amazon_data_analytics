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98" r:id="rId5"/>
    <p:sldId id="302" r:id="rId6"/>
    <p:sldId id="275" r:id="rId7"/>
    <p:sldId id="294" r:id="rId8"/>
    <p:sldId id="277" r:id="rId9"/>
    <p:sldId id="295" r:id="rId10"/>
    <p:sldId id="296" r:id="rId11"/>
    <p:sldId id="303" r:id="rId12"/>
    <p:sldId id="304" r:id="rId13"/>
    <p:sldId id="305" r:id="rId14"/>
    <p:sldId id="306" r:id="rId15"/>
    <p:sldId id="307" r:id="rId16"/>
    <p:sldId id="300" r:id="rId17"/>
    <p:sldId id="308" r:id="rId18"/>
    <p:sldId id="310" r:id="rId19"/>
    <p:sldId id="297" r:id="rId20"/>
    <p:sldId id="311" r:id="rId21"/>
    <p:sldId id="312" r:id="rId22"/>
    <p:sldId id="313" r:id="rId23"/>
    <p:sldId id="289"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320"/>
    <a:srgbClr val="446992"/>
    <a:srgbClr val="AEC2D8"/>
    <a:srgbClr val="98432A"/>
    <a:srgbClr val="D84400"/>
    <a:srgbClr val="44678D"/>
    <a:srgbClr val="263E5A"/>
    <a:srgbClr val="D6E0EB"/>
    <a:srgbClr val="728DAB"/>
    <a:srgbClr val="C9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45EB5E-FD03-479B-99BA-67EAF03231D4}" v="60" dt="2024-04-27T09:19:20.812"/>
    <p1510:client id="{350FAD64-DBCF-CD0F-54C5-2EDED4C12BDE}" v="203" dt="2024-04-26T10:50:08.13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98" autoAdjust="0"/>
    <p:restoredTop sz="95033" autoAdjust="0"/>
  </p:normalViewPr>
  <p:slideViewPr>
    <p:cSldViewPr snapToGrid="0" showGuides="1">
      <p:cViewPr varScale="1">
        <p:scale>
          <a:sx n="51" d="100"/>
          <a:sy n="51" d="100"/>
        </p:scale>
        <p:origin x="926" y="29"/>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13766"/>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12/27/2024</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ED2950FC-64C0-50D7-5101-884A13ED2F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CEA88831-A930-596B-0685-672024BE271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2A3FD0A0-F4FB-BC20-358F-C4F179AA8980}"/>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2D389891-233D-6282-224F-6B8EC0182D2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D61DD8-56E8-44DB-8D68-9188DEA50502}" type="datetimeFigureOut">
              <a:rPr lang="en-US" smtClean="0"/>
              <a:t>12/27/2024</a:t>
            </a:fld>
            <a:endParaRPr lang="en-US"/>
          </a:p>
        </p:txBody>
      </p:sp>
      <p:sp>
        <p:nvSpPr>
          <p:cNvPr id="12" name="Notes Placeholder 11">
            <a:extLst>
              <a:ext uri="{FF2B5EF4-FFF2-40B4-BE49-F238E27FC236}">
                <a16:creationId xmlns:a16="http://schemas.microsoft.com/office/drawing/2014/main" id="{F2A2D99A-04B6-3AD9-B6DA-EEE29FB0DDF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EF4F81C-C1F0-7738-A271-96AF417D7F89}"/>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84C781-2765-427A-A960-385CE0D0CAB9}"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3624767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2</a:t>
            </a:fld>
            <a:endParaRPr lang="en-US" altLang="zh-CN" dirty="0"/>
          </a:p>
        </p:txBody>
      </p:sp>
    </p:spTree>
    <p:extLst>
      <p:ext uri="{BB962C8B-B14F-4D97-AF65-F5344CB8AC3E}">
        <p14:creationId xmlns:p14="http://schemas.microsoft.com/office/powerpoint/2010/main" val="1896666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extLst>
      <p:ext uri="{BB962C8B-B14F-4D97-AF65-F5344CB8AC3E}">
        <p14:creationId xmlns:p14="http://schemas.microsoft.com/office/powerpoint/2010/main" val="464722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2296002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1537744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1829007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8</a:t>
            </a:fld>
            <a:endParaRPr lang="en-US" altLang="zh-CN" dirty="0"/>
          </a:p>
        </p:txBody>
      </p:sp>
    </p:spTree>
    <p:extLst>
      <p:ext uri="{BB962C8B-B14F-4D97-AF65-F5344CB8AC3E}">
        <p14:creationId xmlns:p14="http://schemas.microsoft.com/office/powerpoint/2010/main" val="295872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9</a:t>
            </a:fld>
            <a:endParaRPr lang="en-US" altLang="zh-CN" dirty="0"/>
          </a:p>
        </p:txBody>
      </p:sp>
    </p:spTree>
    <p:extLst>
      <p:ext uri="{BB962C8B-B14F-4D97-AF65-F5344CB8AC3E}">
        <p14:creationId xmlns:p14="http://schemas.microsoft.com/office/powerpoint/2010/main" val="4088286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10</a:t>
            </a:fld>
            <a:endParaRPr lang="en-US" altLang="zh-CN" dirty="0"/>
          </a:p>
        </p:txBody>
      </p:sp>
    </p:spTree>
    <p:extLst>
      <p:ext uri="{BB962C8B-B14F-4D97-AF65-F5344CB8AC3E}">
        <p14:creationId xmlns:p14="http://schemas.microsoft.com/office/powerpoint/2010/main" val="16902463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11</a:t>
            </a:fld>
            <a:endParaRPr lang="en-US" altLang="zh-CN" dirty="0"/>
          </a:p>
        </p:txBody>
      </p:sp>
    </p:spTree>
    <p:extLst>
      <p:ext uri="{BB962C8B-B14F-4D97-AF65-F5344CB8AC3E}">
        <p14:creationId xmlns:p14="http://schemas.microsoft.com/office/powerpoint/2010/main" val="2883515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12</a:t>
            </a:fld>
            <a:endParaRPr lang="en-US" altLang="zh-CN" dirty="0"/>
          </a:p>
        </p:txBody>
      </p:sp>
    </p:spTree>
    <p:extLst>
      <p:ext uri="{BB962C8B-B14F-4D97-AF65-F5344CB8AC3E}">
        <p14:creationId xmlns:p14="http://schemas.microsoft.com/office/powerpoint/2010/main" val="401841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790208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14</a:t>
            </a:fld>
            <a:endParaRPr lang="en-US" altLang="zh-CN" dirty="0"/>
          </a:p>
        </p:txBody>
      </p:sp>
    </p:spTree>
    <p:extLst>
      <p:ext uri="{BB962C8B-B14F-4D97-AF65-F5344CB8AC3E}">
        <p14:creationId xmlns:p14="http://schemas.microsoft.com/office/powerpoint/2010/main" val="374203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15</a:t>
            </a:fld>
            <a:endParaRPr lang="en-US" altLang="zh-CN" dirty="0"/>
          </a:p>
        </p:txBody>
      </p:sp>
    </p:spTree>
    <p:extLst>
      <p:ext uri="{BB962C8B-B14F-4D97-AF65-F5344CB8AC3E}">
        <p14:creationId xmlns:p14="http://schemas.microsoft.com/office/powerpoint/2010/main" val="8093722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16</a:t>
            </a:fld>
            <a:endParaRPr lang="en-US" altLang="zh-CN" noProof="0" dirty="0"/>
          </a:p>
        </p:txBody>
      </p:sp>
    </p:spTree>
    <p:extLst>
      <p:ext uri="{BB962C8B-B14F-4D97-AF65-F5344CB8AC3E}">
        <p14:creationId xmlns:p14="http://schemas.microsoft.com/office/powerpoint/2010/main" val="2611020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17</a:t>
            </a:fld>
            <a:endParaRPr lang="en-US" altLang="zh-CN" dirty="0"/>
          </a:p>
        </p:txBody>
      </p:sp>
    </p:spTree>
    <p:extLst>
      <p:ext uri="{BB962C8B-B14F-4D97-AF65-F5344CB8AC3E}">
        <p14:creationId xmlns:p14="http://schemas.microsoft.com/office/powerpoint/2010/main" val="703942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18</a:t>
            </a:fld>
            <a:endParaRPr lang="en-US" altLang="zh-CN" dirty="0"/>
          </a:p>
        </p:txBody>
      </p:sp>
    </p:spTree>
    <p:extLst>
      <p:ext uri="{BB962C8B-B14F-4D97-AF65-F5344CB8AC3E}">
        <p14:creationId xmlns:p14="http://schemas.microsoft.com/office/powerpoint/2010/main" val="6950845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19</a:t>
            </a:fld>
            <a:endParaRPr lang="en-US" altLang="zh-CN" dirty="0"/>
          </a:p>
        </p:txBody>
      </p:sp>
    </p:spTree>
    <p:extLst>
      <p:ext uri="{BB962C8B-B14F-4D97-AF65-F5344CB8AC3E}">
        <p14:creationId xmlns:p14="http://schemas.microsoft.com/office/powerpoint/2010/main" val="7267766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20</a:t>
            </a:fld>
            <a:endParaRPr lang="en-US" altLang="zh-CN" noProof="0" dirty="0"/>
          </a:p>
        </p:txBody>
      </p:sp>
    </p:spTree>
    <p:extLst>
      <p:ext uri="{BB962C8B-B14F-4D97-AF65-F5344CB8AC3E}">
        <p14:creationId xmlns:p14="http://schemas.microsoft.com/office/powerpoint/2010/main" val="143929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dirty="0"/>
              <a:t>Click to edit Master title style</a:t>
            </a:r>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6.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DD6ABCB0-37E6-B190-D712-ED55F6D67EBD}"/>
              </a:ext>
            </a:extLst>
          </p:cNvPr>
          <p:cNvPicPr>
            <a:picLocks noGrp="1" noChangeAspect="1"/>
          </p:cNvPicPr>
          <p:nvPr>
            <p:ph type="pic" sz="quarter" idx="47"/>
          </p:nvPr>
        </p:nvPicPr>
        <p:blipFill>
          <a:blip r:embed="rId3"/>
          <a:srcRect l="3757" r="3757"/>
          <a:stretch>
            <a:fillRect/>
          </a:stretch>
        </p:blipFill>
        <p:spPr/>
      </p:pic>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389912" y="714381"/>
            <a:ext cx="5257793" cy="2057441"/>
          </a:xfrm>
        </p:spPr>
        <p:txBody>
          <a:bodyPr/>
          <a:lstStyle/>
          <a:p>
            <a:r>
              <a:rPr lang="en-US" altLang="zh-CN" dirty="0"/>
              <a:t>Amazon Sales Data Analysis</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601366" y="4172084"/>
            <a:ext cx="2270838" cy="760288"/>
          </a:xfrm>
        </p:spPr>
        <p:txBody>
          <a:bodyPr vert="horz" lIns="91440" tIns="45720" rIns="91440" bIns="45720" rtlCol="0" anchor="t">
            <a:noAutofit/>
          </a:bodyPr>
          <a:lstStyle/>
          <a:p>
            <a:r>
              <a:rPr lang="en-US" dirty="0"/>
              <a:t>Presented By :</a:t>
            </a:r>
          </a:p>
          <a:p>
            <a:r>
              <a:rPr lang="en-US" dirty="0"/>
              <a:t>Rohan Vijay </a:t>
            </a:r>
            <a:r>
              <a:rPr lang="en-US" dirty="0" err="1"/>
              <a:t>Gaikawd</a:t>
            </a:r>
            <a:r>
              <a:rPr lang="en-US" dirty="0"/>
              <a:t> (Data Analyst Intern)</a:t>
            </a:r>
          </a:p>
        </p:txBody>
      </p:sp>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pic>
        <p:nvPicPr>
          <p:cNvPr id="18" name="Picture 17">
            <a:extLst>
              <a:ext uri="{FF2B5EF4-FFF2-40B4-BE49-F238E27FC236}">
                <a16:creationId xmlns:a16="http://schemas.microsoft.com/office/drawing/2014/main" id="{F8550002-5099-5444-5A63-A387ECAF5CC7}"/>
              </a:ext>
            </a:extLst>
          </p:cNvPr>
          <p:cNvPicPr>
            <a:picLocks noChangeAspect="1"/>
          </p:cNvPicPr>
          <p:nvPr/>
        </p:nvPicPr>
        <p:blipFill>
          <a:blip r:embed="rId4"/>
          <a:stretch>
            <a:fillRect/>
          </a:stretch>
        </p:blipFill>
        <p:spPr>
          <a:xfrm>
            <a:off x="18687" y="6245913"/>
            <a:ext cx="1769474" cy="597888"/>
          </a:xfrm>
          <a:prstGeom prst="rect">
            <a:avLst/>
          </a:prstGeom>
        </p:spPr>
      </p:pic>
      <p:sp>
        <p:nvSpPr>
          <p:cNvPr id="2" name="Text Placeholder 8">
            <a:extLst>
              <a:ext uri="{FF2B5EF4-FFF2-40B4-BE49-F238E27FC236}">
                <a16:creationId xmlns:a16="http://schemas.microsoft.com/office/drawing/2014/main" id="{ADBC8330-511F-2041-D9CD-6AC8AF7FA88B}"/>
              </a:ext>
            </a:extLst>
          </p:cNvPr>
          <p:cNvSpPr txBox="1">
            <a:spLocks/>
          </p:cNvSpPr>
          <p:nvPr/>
        </p:nvSpPr>
        <p:spPr>
          <a:xfrm>
            <a:off x="1676009" y="3077967"/>
            <a:ext cx="3511811" cy="760288"/>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8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Detailed Project Report</a:t>
            </a:r>
          </a:p>
        </p:txBody>
      </p:sp>
    </p:spTree>
    <p:extLst>
      <p:ext uri="{BB962C8B-B14F-4D97-AF65-F5344CB8AC3E}">
        <p14:creationId xmlns:p14="http://schemas.microsoft.com/office/powerpoint/2010/main" val="299737439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 calcmode="lin" valueType="num">
                                      <p:cBhvr additive="base">
                                        <p:cTn id="12"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 calcmode="lin" valueType="num">
                                      <p:cBhvr additive="base">
                                        <p:cTn id="1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FA96FE97-5E27-FC36-5E3A-511A31E6C789}"/>
              </a:ext>
            </a:extLst>
          </p:cNvPr>
          <p:cNvSpPr>
            <a:spLocks noGrp="1"/>
          </p:cNvSpPr>
          <p:nvPr>
            <p:ph type="body" sz="quarter" idx="27"/>
          </p:nvPr>
        </p:nvSpPr>
        <p:spPr>
          <a:xfrm>
            <a:off x="5271609" y="699796"/>
            <a:ext cx="5162709" cy="746123"/>
          </a:xfrm>
        </p:spPr>
        <p:txBody>
          <a:bodyPr/>
          <a:lstStyle/>
          <a:p>
            <a:r>
              <a:rPr lang="en-US" sz="4000" dirty="0">
                <a:latin typeface="+mj-lt"/>
              </a:rPr>
              <a:t>Project Detail</a:t>
            </a:r>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2</a:t>
            </a:fld>
            <a:endParaRPr lang="en-US" altLang="zh-CN" dirty="0"/>
          </a:p>
        </p:txBody>
      </p:sp>
      <p:graphicFrame>
        <p:nvGraphicFramePr>
          <p:cNvPr id="15" name="Table 14">
            <a:extLst>
              <a:ext uri="{FF2B5EF4-FFF2-40B4-BE49-F238E27FC236}">
                <a16:creationId xmlns:a16="http://schemas.microsoft.com/office/drawing/2014/main" id="{E8334C07-5C17-47D6-CCBE-4D144A34D99C}"/>
              </a:ext>
            </a:extLst>
          </p:cNvPr>
          <p:cNvGraphicFramePr>
            <a:graphicFrameLocks noGrp="1"/>
          </p:cNvGraphicFramePr>
          <p:nvPr>
            <p:extLst>
              <p:ext uri="{D42A27DB-BD31-4B8C-83A1-F6EECF244321}">
                <p14:modId xmlns:p14="http://schemas.microsoft.com/office/powerpoint/2010/main" val="739682643"/>
              </p:ext>
            </p:extLst>
          </p:nvPr>
        </p:nvGraphicFramePr>
        <p:xfrm>
          <a:off x="3292899" y="2025952"/>
          <a:ext cx="8128000" cy="251805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628787772"/>
                    </a:ext>
                  </a:extLst>
                </a:gridCol>
                <a:gridCol w="4064000">
                  <a:extLst>
                    <a:ext uri="{9D8B030D-6E8A-4147-A177-3AD203B41FA5}">
                      <a16:colId xmlns:a16="http://schemas.microsoft.com/office/drawing/2014/main" val="3894344892"/>
                    </a:ext>
                  </a:extLst>
                </a:gridCol>
              </a:tblGrid>
              <a:tr h="705432">
                <a:tc>
                  <a:txBody>
                    <a:bodyPr/>
                    <a:lstStyle/>
                    <a:p>
                      <a:pPr algn="ctr"/>
                      <a:r>
                        <a:rPr lang="en-US" dirty="0"/>
                        <a:t>Project Title</a:t>
                      </a:r>
                      <a:endParaRPr lang="en-IN" dirty="0"/>
                    </a:p>
                  </a:txBody>
                  <a:tcPr/>
                </a:tc>
                <a:tc>
                  <a:txBody>
                    <a:bodyPr/>
                    <a:lstStyle/>
                    <a:p>
                      <a:pPr algn="ctr"/>
                      <a:r>
                        <a:rPr lang="en-US" dirty="0"/>
                        <a:t>Analyzing Amazon Sales Data</a:t>
                      </a:r>
                      <a:endParaRPr lang="en-IN" dirty="0"/>
                    </a:p>
                  </a:txBody>
                  <a:tcPr/>
                </a:tc>
                <a:extLst>
                  <a:ext uri="{0D108BD9-81ED-4DB2-BD59-A6C34878D82A}">
                    <a16:rowId xmlns:a16="http://schemas.microsoft.com/office/drawing/2014/main" val="3833679139"/>
                  </a:ext>
                </a:extLst>
              </a:tr>
              <a:tr h="453156">
                <a:tc>
                  <a:txBody>
                    <a:bodyPr/>
                    <a:lstStyle/>
                    <a:p>
                      <a:r>
                        <a:rPr lang="en-US" sz="1600" dirty="0"/>
                        <a:t>Technology</a:t>
                      </a:r>
                      <a:endParaRPr lang="en-IN" sz="1600" dirty="0"/>
                    </a:p>
                  </a:txBody>
                  <a:tcPr/>
                </a:tc>
                <a:tc>
                  <a:txBody>
                    <a:bodyPr/>
                    <a:lstStyle/>
                    <a:p>
                      <a:r>
                        <a:rPr lang="en-US" sz="1600" dirty="0"/>
                        <a:t>Business Intelligence</a:t>
                      </a:r>
                      <a:endParaRPr lang="en-IN" sz="1600" dirty="0"/>
                    </a:p>
                  </a:txBody>
                  <a:tcPr/>
                </a:tc>
                <a:extLst>
                  <a:ext uri="{0D108BD9-81ED-4DB2-BD59-A6C34878D82A}">
                    <a16:rowId xmlns:a16="http://schemas.microsoft.com/office/drawing/2014/main" val="2684534940"/>
                  </a:ext>
                </a:extLst>
              </a:tr>
              <a:tr h="453156">
                <a:tc>
                  <a:txBody>
                    <a:bodyPr/>
                    <a:lstStyle/>
                    <a:p>
                      <a:r>
                        <a:rPr lang="en-US" sz="1600" dirty="0"/>
                        <a:t>Domain Name</a:t>
                      </a:r>
                      <a:endParaRPr lang="en-IN" sz="1600" dirty="0"/>
                    </a:p>
                  </a:txBody>
                  <a:tcPr/>
                </a:tc>
                <a:tc>
                  <a:txBody>
                    <a:bodyPr/>
                    <a:lstStyle/>
                    <a:p>
                      <a:r>
                        <a:rPr lang="en-US" sz="1600" dirty="0"/>
                        <a:t>E-commerce</a:t>
                      </a:r>
                      <a:endParaRPr lang="en-IN" sz="1600" dirty="0"/>
                    </a:p>
                  </a:txBody>
                  <a:tcPr/>
                </a:tc>
                <a:extLst>
                  <a:ext uri="{0D108BD9-81ED-4DB2-BD59-A6C34878D82A}">
                    <a16:rowId xmlns:a16="http://schemas.microsoft.com/office/drawing/2014/main" val="3989438433"/>
                  </a:ext>
                </a:extLst>
              </a:tr>
              <a:tr h="453156">
                <a:tc>
                  <a:txBody>
                    <a:bodyPr/>
                    <a:lstStyle/>
                    <a:p>
                      <a:r>
                        <a:rPr lang="en-US" sz="1600" dirty="0"/>
                        <a:t>Project Difficulty Level</a:t>
                      </a:r>
                      <a:endParaRPr lang="en-IN" sz="1600" dirty="0"/>
                    </a:p>
                  </a:txBody>
                  <a:tcPr/>
                </a:tc>
                <a:tc>
                  <a:txBody>
                    <a:bodyPr/>
                    <a:lstStyle/>
                    <a:p>
                      <a:r>
                        <a:rPr lang="en-US" sz="1600" dirty="0"/>
                        <a:t>Advanced</a:t>
                      </a:r>
                      <a:endParaRPr lang="en-IN" sz="1600" dirty="0"/>
                    </a:p>
                  </a:txBody>
                  <a:tcPr/>
                </a:tc>
                <a:extLst>
                  <a:ext uri="{0D108BD9-81ED-4DB2-BD59-A6C34878D82A}">
                    <a16:rowId xmlns:a16="http://schemas.microsoft.com/office/drawing/2014/main" val="1641850970"/>
                  </a:ext>
                </a:extLst>
              </a:tr>
              <a:tr h="453156">
                <a:tc>
                  <a:txBody>
                    <a:bodyPr/>
                    <a:lstStyle/>
                    <a:p>
                      <a:r>
                        <a:rPr lang="en-US" sz="1600" dirty="0"/>
                        <a:t>Tools</a:t>
                      </a:r>
                      <a:endParaRPr lang="en-IN" sz="1600" dirty="0"/>
                    </a:p>
                  </a:txBody>
                  <a:tcPr/>
                </a:tc>
                <a:tc>
                  <a:txBody>
                    <a:bodyPr/>
                    <a:lstStyle/>
                    <a:p>
                      <a:r>
                        <a:rPr lang="en-US" sz="1600" dirty="0"/>
                        <a:t>Microsoft Excel, Power BI, MySQL</a:t>
                      </a:r>
                      <a:endParaRPr lang="en-IN" sz="1600" dirty="0"/>
                    </a:p>
                  </a:txBody>
                  <a:tcPr/>
                </a:tc>
                <a:extLst>
                  <a:ext uri="{0D108BD9-81ED-4DB2-BD59-A6C34878D82A}">
                    <a16:rowId xmlns:a16="http://schemas.microsoft.com/office/drawing/2014/main" val="3033209304"/>
                  </a:ext>
                </a:extLst>
              </a:tr>
            </a:tbl>
          </a:graphicData>
        </a:graphic>
      </p:graphicFrame>
    </p:spTree>
    <p:extLst>
      <p:ext uri="{BB962C8B-B14F-4D97-AF65-F5344CB8AC3E}">
        <p14:creationId xmlns:p14="http://schemas.microsoft.com/office/powerpoint/2010/main" val="362872927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F64211-DCD8-B458-DBD2-EBDA7AE3396F}"/>
              </a:ext>
            </a:extLst>
          </p:cNvPr>
          <p:cNvSpPr>
            <a:spLocks noGrp="1"/>
          </p:cNvSpPr>
          <p:nvPr>
            <p:ph type="title"/>
          </p:nvPr>
        </p:nvSpPr>
        <p:spPr>
          <a:xfrm>
            <a:off x="636641" y="733547"/>
            <a:ext cx="4253399" cy="1740114"/>
          </a:xfrm>
        </p:spPr>
        <p:txBody>
          <a:bodyPr/>
          <a:lstStyle/>
          <a:p>
            <a:r>
              <a:rPr lang="en-US" altLang="zh-CN" dirty="0"/>
              <a:t>Agenda</a:t>
            </a:r>
            <a:endParaRPr lang="en-US" dirty="0"/>
          </a:p>
        </p:txBody>
      </p:sp>
      <p:sp>
        <p:nvSpPr>
          <p:cNvPr id="16" name="Text Placeholder 15">
            <a:extLst>
              <a:ext uri="{FF2B5EF4-FFF2-40B4-BE49-F238E27FC236}">
                <a16:creationId xmlns:a16="http://schemas.microsoft.com/office/drawing/2014/main" id="{8FEA3BB9-F064-CFBE-C0BE-BB7A22A4DCFC}"/>
              </a:ext>
            </a:extLst>
          </p:cNvPr>
          <p:cNvSpPr>
            <a:spLocks noGrp="1"/>
          </p:cNvSpPr>
          <p:nvPr>
            <p:ph type="body" sz="quarter" idx="28"/>
          </p:nvPr>
        </p:nvSpPr>
        <p:spPr>
          <a:xfrm>
            <a:off x="6314918" y="1218481"/>
            <a:ext cx="1913128" cy="1054727"/>
          </a:xfrm>
        </p:spPr>
        <p:txBody>
          <a:bodyPr/>
          <a:lstStyle/>
          <a:p>
            <a:r>
              <a:rPr lang="en-US" dirty="0">
                <a:latin typeface="Abadi"/>
              </a:rPr>
              <a:t>Problem Statement</a:t>
            </a:r>
            <a:endParaRPr lang="en-US" dirty="0"/>
          </a:p>
          <a:p>
            <a:endParaRPr lang="en-US" dirty="0"/>
          </a:p>
        </p:txBody>
      </p:sp>
      <p:sp>
        <p:nvSpPr>
          <p:cNvPr id="9" name="Text Placeholder 8">
            <a:extLst>
              <a:ext uri="{FF2B5EF4-FFF2-40B4-BE49-F238E27FC236}">
                <a16:creationId xmlns:a16="http://schemas.microsoft.com/office/drawing/2014/main" id="{78024C77-A2F8-1ABA-5412-E6BB88B5FA1B}"/>
              </a:ext>
            </a:extLst>
          </p:cNvPr>
          <p:cNvSpPr>
            <a:spLocks noGrp="1"/>
          </p:cNvSpPr>
          <p:nvPr>
            <p:ph type="body" sz="quarter" idx="29"/>
          </p:nvPr>
        </p:nvSpPr>
        <p:spPr>
          <a:xfrm>
            <a:off x="8375472" y="1208321"/>
            <a:ext cx="1904890" cy="1054728"/>
          </a:xfrm>
        </p:spPr>
        <p:txBody>
          <a:bodyPr/>
          <a:lstStyle/>
          <a:p>
            <a:r>
              <a:rPr lang="en-US" dirty="0">
                <a:latin typeface="Abadi"/>
              </a:rPr>
              <a:t>Primary goals</a:t>
            </a:r>
          </a:p>
          <a:p>
            <a:endParaRPr lang="en-US" dirty="0"/>
          </a:p>
        </p:txBody>
      </p:sp>
      <p:sp>
        <p:nvSpPr>
          <p:cNvPr id="18" name="Text Placeholder 17">
            <a:extLst>
              <a:ext uri="{FF2B5EF4-FFF2-40B4-BE49-F238E27FC236}">
                <a16:creationId xmlns:a16="http://schemas.microsoft.com/office/drawing/2014/main" id="{241202DB-E499-EB19-8A48-A3301DA59ED7}"/>
              </a:ext>
            </a:extLst>
          </p:cNvPr>
          <p:cNvSpPr>
            <a:spLocks noGrp="1"/>
          </p:cNvSpPr>
          <p:nvPr>
            <p:ph type="body" sz="quarter" idx="30"/>
          </p:nvPr>
        </p:nvSpPr>
        <p:spPr>
          <a:xfrm>
            <a:off x="7321949" y="2986965"/>
            <a:ext cx="1914694" cy="1089194"/>
          </a:xfrm>
        </p:spPr>
        <p:txBody>
          <a:bodyPr/>
          <a:lstStyle/>
          <a:p>
            <a:pPr>
              <a:lnSpc>
                <a:spcPct val="112999"/>
              </a:lnSpc>
            </a:pPr>
            <a:r>
              <a:rPr lang="en-US" dirty="0">
                <a:latin typeface="Abadi"/>
              </a:rPr>
              <a:t>Dashboard</a:t>
            </a:r>
            <a:endParaRPr lang="en-US" dirty="0"/>
          </a:p>
          <a:p>
            <a:pPr>
              <a:lnSpc>
                <a:spcPct val="112999"/>
              </a:lnSpc>
            </a:pPr>
            <a:endParaRPr lang="en-US" dirty="0">
              <a:latin typeface="Abadi"/>
            </a:endParaRPr>
          </a:p>
        </p:txBody>
      </p:sp>
      <p:sp>
        <p:nvSpPr>
          <p:cNvPr id="22" name="Text Placeholder 21">
            <a:extLst>
              <a:ext uri="{FF2B5EF4-FFF2-40B4-BE49-F238E27FC236}">
                <a16:creationId xmlns:a16="http://schemas.microsoft.com/office/drawing/2014/main" id="{D5402852-C1AD-6A4E-DAA7-0AE582A742FD}"/>
              </a:ext>
            </a:extLst>
          </p:cNvPr>
          <p:cNvSpPr>
            <a:spLocks noGrp="1"/>
          </p:cNvSpPr>
          <p:nvPr>
            <p:ph type="body" sz="quarter" idx="31"/>
          </p:nvPr>
        </p:nvSpPr>
        <p:spPr>
          <a:xfrm>
            <a:off x="9409651" y="2775995"/>
            <a:ext cx="1913128" cy="1107124"/>
          </a:xfrm>
        </p:spPr>
        <p:txBody>
          <a:bodyPr/>
          <a:lstStyle/>
          <a:p>
            <a:r>
              <a:rPr lang="en-US" dirty="0">
                <a:latin typeface="Abadi"/>
              </a:rPr>
              <a:t>Insights</a:t>
            </a:r>
            <a:endParaRPr lang="en-US" dirty="0"/>
          </a:p>
        </p:txBody>
      </p:sp>
      <p:sp>
        <p:nvSpPr>
          <p:cNvPr id="24" name="Text Placeholder 23">
            <a:extLst>
              <a:ext uri="{FF2B5EF4-FFF2-40B4-BE49-F238E27FC236}">
                <a16:creationId xmlns:a16="http://schemas.microsoft.com/office/drawing/2014/main" id="{ABF1D337-2A3C-A0FB-A6CD-5E4B9D6DFD91}"/>
              </a:ext>
            </a:extLst>
          </p:cNvPr>
          <p:cNvSpPr>
            <a:spLocks noGrp="1"/>
          </p:cNvSpPr>
          <p:nvPr>
            <p:ph type="body" sz="quarter" idx="32"/>
          </p:nvPr>
        </p:nvSpPr>
        <p:spPr/>
        <p:txBody>
          <a:bodyPr/>
          <a:lstStyle/>
          <a:p>
            <a:pPr>
              <a:lnSpc>
                <a:spcPct val="112999"/>
              </a:lnSpc>
            </a:pPr>
            <a:r>
              <a:rPr lang="en-US" dirty="0">
                <a:latin typeface="Abadi"/>
              </a:rPr>
              <a:t>Recommendation</a:t>
            </a:r>
            <a:endParaRPr lang="en-US" dirty="0"/>
          </a:p>
        </p:txBody>
      </p:sp>
      <p:sp>
        <p:nvSpPr>
          <p:cNvPr id="10" name="Slide Number Placeholder 9">
            <a:extLst>
              <a:ext uri="{FF2B5EF4-FFF2-40B4-BE49-F238E27FC236}">
                <a16:creationId xmlns:a16="http://schemas.microsoft.com/office/drawing/2014/main" id="{CBE681AB-301C-4DC8-7FBD-FAA2CC6606AE}"/>
              </a:ext>
            </a:extLst>
          </p:cNvPr>
          <p:cNvSpPr>
            <a:spLocks noGrp="1"/>
          </p:cNvSpPr>
          <p:nvPr>
            <p:ph type="sldNum" sz="quarter" idx="34"/>
          </p:nvPr>
        </p:nvSpPr>
        <p:spPr/>
        <p:txBody>
          <a:bodyPr/>
          <a:lstStyle/>
          <a:p>
            <a:r>
              <a:rPr lang="en-US" altLang="zh-CN" dirty="0"/>
              <a:t>2</a:t>
            </a:r>
          </a:p>
        </p:txBody>
      </p:sp>
      <p:pic>
        <p:nvPicPr>
          <p:cNvPr id="3" name="Picture 2">
            <a:extLst>
              <a:ext uri="{FF2B5EF4-FFF2-40B4-BE49-F238E27FC236}">
                <a16:creationId xmlns:a16="http://schemas.microsoft.com/office/drawing/2014/main" id="{6F8A8B41-2599-9C6B-6245-A38A5EFF3BBC}"/>
              </a:ext>
            </a:extLst>
          </p:cNvPr>
          <p:cNvPicPr>
            <a:picLocks noChangeAspect="1"/>
          </p:cNvPicPr>
          <p:nvPr/>
        </p:nvPicPr>
        <p:blipFill>
          <a:blip r:embed="rId3"/>
          <a:stretch>
            <a:fillRect/>
          </a:stretch>
        </p:blipFill>
        <p:spPr>
          <a:xfrm>
            <a:off x="10160" y="6244798"/>
            <a:ext cx="1811560" cy="612109"/>
          </a:xfrm>
          <a:prstGeom prst="rect">
            <a:avLst/>
          </a:prstGeom>
        </p:spPr>
      </p:pic>
    </p:spTree>
    <p:extLst>
      <p:ext uri="{BB962C8B-B14F-4D97-AF65-F5344CB8AC3E}">
        <p14:creationId xmlns:p14="http://schemas.microsoft.com/office/powerpoint/2010/main" val="277553516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p:cTn id="7"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6">
                                            <p:txEl>
                                              <p:pRg st="0" end="0"/>
                                            </p:txEl>
                                          </p:spTgt>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p:cTn id="13"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9">
                                            <p:txEl>
                                              <p:pRg st="0" end="0"/>
                                            </p:txEl>
                                          </p:spTgt>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 calcmode="lin" valueType="num">
                                      <p:cBhvr>
                                        <p:cTn id="19" dur="500" fill="hold"/>
                                        <p:tgtEl>
                                          <p:spTgt spid="18">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18">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18">
                                            <p:txEl>
                                              <p:pRg st="0" end="0"/>
                                            </p:txEl>
                                          </p:spTgt>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22">
                                            <p:txEl>
                                              <p:pRg st="0" end="0"/>
                                            </p:txEl>
                                          </p:spTgt>
                                        </p:tgtEl>
                                        <p:attrNameLst>
                                          <p:attrName>style.visibility</p:attrName>
                                        </p:attrNameLst>
                                      </p:cBhvr>
                                      <p:to>
                                        <p:strVal val="visible"/>
                                      </p:to>
                                    </p:set>
                                    <p:anim calcmode="lin" valueType="num">
                                      <p:cBhvr>
                                        <p:cTn id="25" dur="500" fill="hold"/>
                                        <p:tgtEl>
                                          <p:spTgt spid="22">
                                            <p:txEl>
                                              <p:pRg st="0" end="0"/>
                                            </p:txEl>
                                          </p:spTgt>
                                        </p:tgtEl>
                                        <p:attrNameLst>
                                          <p:attrName>ppt_w</p:attrName>
                                        </p:attrNameLst>
                                      </p:cBhvr>
                                      <p:tavLst>
                                        <p:tav tm="0">
                                          <p:val>
                                            <p:fltVal val="0"/>
                                          </p:val>
                                        </p:tav>
                                        <p:tav tm="100000">
                                          <p:val>
                                            <p:strVal val="#ppt_w"/>
                                          </p:val>
                                        </p:tav>
                                      </p:tavLst>
                                    </p:anim>
                                    <p:anim calcmode="lin" valueType="num">
                                      <p:cBhvr>
                                        <p:cTn id="26" dur="500" fill="hold"/>
                                        <p:tgtEl>
                                          <p:spTgt spid="22">
                                            <p:txEl>
                                              <p:pRg st="0" end="0"/>
                                            </p:txEl>
                                          </p:spTgt>
                                        </p:tgtEl>
                                        <p:attrNameLst>
                                          <p:attrName>ppt_h</p:attrName>
                                        </p:attrNameLst>
                                      </p:cBhvr>
                                      <p:tavLst>
                                        <p:tav tm="0">
                                          <p:val>
                                            <p:fltVal val="0"/>
                                          </p:val>
                                        </p:tav>
                                        <p:tav tm="100000">
                                          <p:val>
                                            <p:strVal val="#ppt_h"/>
                                          </p:val>
                                        </p:tav>
                                      </p:tavLst>
                                    </p:anim>
                                    <p:animEffect transition="in" filter="fade">
                                      <p:cBhvr>
                                        <p:cTn id="27" dur="500"/>
                                        <p:tgtEl>
                                          <p:spTgt spid="22">
                                            <p:txEl>
                                              <p:pRg st="0" end="0"/>
                                            </p:txEl>
                                          </p:spTgt>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24">
                                            <p:txEl>
                                              <p:pRg st="0" end="0"/>
                                            </p:txEl>
                                          </p:spTgt>
                                        </p:tgtEl>
                                        <p:attrNameLst>
                                          <p:attrName>style.visibility</p:attrName>
                                        </p:attrNameLst>
                                      </p:cBhvr>
                                      <p:to>
                                        <p:strVal val="visible"/>
                                      </p:to>
                                    </p:set>
                                    <p:anim calcmode="lin" valueType="num">
                                      <p:cBhvr>
                                        <p:cTn id="31" dur="500" fill="hold"/>
                                        <p:tgtEl>
                                          <p:spTgt spid="24">
                                            <p:txEl>
                                              <p:pRg st="0" end="0"/>
                                            </p:txEl>
                                          </p:spTgt>
                                        </p:tgtEl>
                                        <p:attrNameLst>
                                          <p:attrName>ppt_w</p:attrName>
                                        </p:attrNameLst>
                                      </p:cBhvr>
                                      <p:tavLst>
                                        <p:tav tm="0">
                                          <p:val>
                                            <p:fltVal val="0"/>
                                          </p:val>
                                        </p:tav>
                                        <p:tav tm="100000">
                                          <p:val>
                                            <p:strVal val="#ppt_w"/>
                                          </p:val>
                                        </p:tav>
                                      </p:tavLst>
                                    </p:anim>
                                    <p:anim calcmode="lin" valueType="num">
                                      <p:cBhvr>
                                        <p:cTn id="32" dur="500" fill="hold"/>
                                        <p:tgtEl>
                                          <p:spTgt spid="24">
                                            <p:txEl>
                                              <p:pRg st="0" end="0"/>
                                            </p:txEl>
                                          </p:spTgt>
                                        </p:tgtEl>
                                        <p:attrNameLst>
                                          <p:attrName>ppt_h</p:attrName>
                                        </p:attrNameLst>
                                      </p:cBhvr>
                                      <p:tavLst>
                                        <p:tav tm="0">
                                          <p:val>
                                            <p:fltVal val="0"/>
                                          </p:val>
                                        </p:tav>
                                        <p:tav tm="100000">
                                          <p:val>
                                            <p:strVal val="#ppt_h"/>
                                          </p:val>
                                        </p:tav>
                                      </p:tavLst>
                                    </p:anim>
                                    <p:animEffect transition="in" filter="fade">
                                      <p:cBhvr>
                                        <p:cTn id="33" dur="5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9" grpId="0" build="p"/>
      <p:bldP spid="18" grpId="0" build="p"/>
      <p:bldP spid="22" grpId="0" build="p"/>
      <p:bldP spid="2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3663CA-BA5A-41E7-1FBE-D38846DFEF75}"/>
              </a:ext>
            </a:extLst>
          </p:cNvPr>
          <p:cNvSpPr>
            <a:spLocks noGrp="1"/>
          </p:cNvSpPr>
          <p:nvPr>
            <p:ph type="title"/>
          </p:nvPr>
        </p:nvSpPr>
        <p:spPr>
          <a:xfrm>
            <a:off x="5944470" y="420543"/>
            <a:ext cx="4683774" cy="1688906"/>
          </a:xfrm>
        </p:spPr>
        <p:txBody>
          <a:bodyPr/>
          <a:lstStyle/>
          <a:p>
            <a:pPr algn="ctr"/>
            <a:r>
              <a:rPr lang="en-US" sz="4000" dirty="0">
                <a:latin typeface="Posterama Text Black"/>
              </a:rPr>
              <a:t>Problem Statement</a:t>
            </a:r>
            <a:endParaRPr lang="en-US" dirty="0"/>
          </a:p>
        </p:txBody>
      </p:sp>
      <p:sp>
        <p:nvSpPr>
          <p:cNvPr id="11" name="Text Placeholder 10">
            <a:extLst>
              <a:ext uri="{FF2B5EF4-FFF2-40B4-BE49-F238E27FC236}">
                <a16:creationId xmlns:a16="http://schemas.microsoft.com/office/drawing/2014/main" id="{02CEC6EF-006F-693B-5D79-47FD797CB22B}"/>
              </a:ext>
            </a:extLst>
          </p:cNvPr>
          <p:cNvSpPr>
            <a:spLocks noGrp="1"/>
          </p:cNvSpPr>
          <p:nvPr>
            <p:ph type="body" sz="quarter" idx="29"/>
          </p:nvPr>
        </p:nvSpPr>
        <p:spPr>
          <a:xfrm>
            <a:off x="6107080" y="2337027"/>
            <a:ext cx="5462879" cy="3503935"/>
          </a:xfrm>
        </p:spPr>
        <p:txBody>
          <a:bodyPr/>
          <a:lstStyle/>
          <a:p>
            <a:r>
              <a:rPr lang="en-US" sz="1600" dirty="0">
                <a:solidFill>
                  <a:schemeClr val="tx1"/>
                </a:solidFill>
              </a:rPr>
              <a:t>Sales management has gained importance to meet increasing competition and the need for improved methods of distribution to reduce cost and to increase profits. Sales management today is the most important function in a commercial and business enterprise.</a:t>
            </a:r>
          </a:p>
          <a:p>
            <a:r>
              <a:rPr lang="en-US" sz="1600" dirty="0">
                <a:solidFill>
                  <a:schemeClr val="tx1"/>
                </a:solidFill>
              </a:rPr>
              <a:t>Do ETL : Extract-Transform-Load some Amazon dataset and find Sales-trend -&gt; month wise , year wise , yearly month wise</a:t>
            </a:r>
          </a:p>
          <a:p>
            <a:r>
              <a:rPr lang="en-US" sz="1600" dirty="0">
                <a:solidFill>
                  <a:schemeClr val="tx1"/>
                </a:solidFill>
              </a:rPr>
              <a:t>Find key metrics and factors and show the meaningful relationships between attributes.</a:t>
            </a:r>
          </a:p>
          <a:p>
            <a:endParaRPr lang="en-US" dirty="0"/>
          </a:p>
        </p:txBody>
      </p:sp>
      <p:sp>
        <p:nvSpPr>
          <p:cNvPr id="5" name="Slide Number Placeholder 4">
            <a:extLst>
              <a:ext uri="{FF2B5EF4-FFF2-40B4-BE49-F238E27FC236}">
                <a16:creationId xmlns:a16="http://schemas.microsoft.com/office/drawing/2014/main" id="{E31C7500-E032-DBB5-A780-8247E3B7367B}"/>
              </a:ext>
            </a:extLst>
          </p:cNvPr>
          <p:cNvSpPr>
            <a:spLocks noGrp="1"/>
          </p:cNvSpPr>
          <p:nvPr>
            <p:ph type="sldNum" sz="quarter" idx="31"/>
          </p:nvPr>
        </p:nvSpPr>
        <p:spPr/>
        <p:txBody>
          <a:bodyPr/>
          <a:lstStyle/>
          <a:p>
            <a:fld id="{47FEACEE-25B4-4A2D-B147-27296E36371D}" type="slidenum">
              <a:rPr lang="en-US" altLang="zh-CN" noProof="0" smtClean="0"/>
              <a:pPr/>
              <a:t>4</a:t>
            </a:fld>
            <a:endParaRPr lang="en-US" altLang="zh-CN" noProof="0" dirty="0"/>
          </a:p>
        </p:txBody>
      </p:sp>
      <p:pic>
        <p:nvPicPr>
          <p:cNvPr id="2" name="Picture 1">
            <a:extLst>
              <a:ext uri="{FF2B5EF4-FFF2-40B4-BE49-F238E27FC236}">
                <a16:creationId xmlns:a16="http://schemas.microsoft.com/office/drawing/2014/main" id="{D12F0D39-7958-EEE4-1565-16513102451B}"/>
              </a:ext>
            </a:extLst>
          </p:cNvPr>
          <p:cNvPicPr>
            <a:picLocks noChangeAspect="1"/>
          </p:cNvPicPr>
          <p:nvPr/>
        </p:nvPicPr>
        <p:blipFill>
          <a:blip r:embed="rId3"/>
          <a:stretch>
            <a:fillRect/>
          </a:stretch>
        </p:blipFill>
        <p:spPr>
          <a:xfrm>
            <a:off x="10160" y="6244798"/>
            <a:ext cx="1811560" cy="612109"/>
          </a:xfrm>
          <a:prstGeom prst="rect">
            <a:avLst/>
          </a:prstGeom>
        </p:spPr>
      </p:pic>
    </p:spTree>
    <p:extLst>
      <p:ext uri="{BB962C8B-B14F-4D97-AF65-F5344CB8AC3E}">
        <p14:creationId xmlns:p14="http://schemas.microsoft.com/office/powerpoint/2010/main" val="3295592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1000"/>
                                        <p:tgtEl>
                                          <p:spTgt spid="11">
                                            <p:txEl>
                                              <p:pRg st="0" end="0"/>
                                            </p:txEl>
                                          </p:spTgt>
                                        </p:tgtEl>
                                      </p:cBhvr>
                                    </p:animEffect>
                                    <p:anim calcmode="lin" valueType="num">
                                      <p:cBhvr>
                                        <p:cTn id="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1000"/>
                                        <p:tgtEl>
                                          <p:spTgt spid="11">
                                            <p:txEl>
                                              <p:pRg st="1" end="1"/>
                                            </p:txEl>
                                          </p:spTgt>
                                        </p:tgtEl>
                                      </p:cBhvr>
                                    </p:animEffect>
                                    <p:anim calcmode="lin" valueType="num">
                                      <p:cBhvr>
                                        <p:cTn id="14"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Effect transition="in" filter="fade">
                                      <p:cBhvr>
                                        <p:cTn id="19" dur="1000"/>
                                        <p:tgtEl>
                                          <p:spTgt spid="11">
                                            <p:txEl>
                                              <p:pRg st="2" end="2"/>
                                            </p:txEl>
                                          </p:spTgt>
                                        </p:tgtEl>
                                      </p:cBhvr>
                                    </p:animEffect>
                                    <p:anim calcmode="lin" valueType="num">
                                      <p:cBhvr>
                                        <p:cTn id="20"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a:xfrm>
            <a:off x="6450967" y="519256"/>
            <a:ext cx="4441188" cy="1117636"/>
          </a:xfrm>
        </p:spPr>
        <p:txBody>
          <a:bodyPr/>
          <a:lstStyle/>
          <a:p>
            <a:r>
              <a:rPr lang="en-US" dirty="0"/>
              <a:t>Primary goals</a:t>
            </a:r>
          </a:p>
        </p:txBody>
      </p:sp>
      <p:sp>
        <p:nvSpPr>
          <p:cNvPr id="19" name="Text Placeholder 18">
            <a:extLst>
              <a:ext uri="{FF2B5EF4-FFF2-40B4-BE49-F238E27FC236}">
                <a16:creationId xmlns:a16="http://schemas.microsoft.com/office/drawing/2014/main" id="{FC101F03-8617-09D4-619B-F38E2F0A4F15}"/>
              </a:ext>
            </a:extLst>
          </p:cNvPr>
          <p:cNvSpPr>
            <a:spLocks noGrp="1"/>
          </p:cNvSpPr>
          <p:nvPr>
            <p:ph type="body" sz="quarter" idx="28"/>
          </p:nvPr>
        </p:nvSpPr>
        <p:spPr/>
        <p:txBody>
          <a:bodyPr/>
          <a:lstStyle/>
          <a:p>
            <a:r>
              <a:rPr lang="en-US" dirty="0"/>
              <a:t>ANNUAL REVENUE GROWTH</a:t>
            </a:r>
          </a:p>
          <a:p>
            <a:endParaRPr lang="en-US" dirty="0"/>
          </a:p>
        </p:txBody>
      </p:sp>
      <p:pic>
        <p:nvPicPr>
          <p:cNvPr id="48" name="Picture placeholder 19" descr="Layout of website design sketches on white paper">
            <a:extLst>
              <a:ext uri="{FF2B5EF4-FFF2-40B4-BE49-F238E27FC236}">
                <a16:creationId xmlns:a16="http://schemas.microsoft.com/office/drawing/2014/main" id="{6D25AB81-B10A-BD11-E8FE-ECF8CB1B12F0}"/>
              </a:ext>
            </a:extLst>
          </p:cNvPr>
          <p:cNvPicPr>
            <a:picLocks noGrp="1" noChangeAspect="1"/>
          </p:cNvPicPr>
          <p:nvPr>
            <p:ph type="pic" sz="quarter" idx="47"/>
          </p:nvPr>
        </p:nvPicPr>
        <p:blipFill>
          <a:blip r:embed="rId3">
            <a:extLst>
              <a:ext uri="{28A0092B-C50C-407E-A947-70E740481C1C}">
                <a14:useLocalDpi xmlns:a14="http://schemas.microsoft.com/office/drawing/2010/main"/>
              </a:ext>
            </a:extLst>
          </a:blip>
          <a:srcRect/>
          <a:stretch/>
        </p:blipFill>
        <p:spPr>
          <a:xfrm>
            <a:off x="591041" y="537452"/>
            <a:ext cx="5045662" cy="5783096"/>
          </a:xfrm>
          <a:blipFill>
            <a:blip r:embed="rId4"/>
            <a:stretch>
              <a:fillRect/>
            </a:stretch>
          </a:blipFill>
        </p:spPr>
      </p:pic>
      <p:sp>
        <p:nvSpPr>
          <p:cNvPr id="3" name="TextBox 2">
            <a:extLst>
              <a:ext uri="{FF2B5EF4-FFF2-40B4-BE49-F238E27FC236}">
                <a16:creationId xmlns:a16="http://schemas.microsoft.com/office/drawing/2014/main" id="{29DFCB71-6122-DC56-9E3C-67C9D4547647}"/>
              </a:ext>
            </a:extLst>
          </p:cNvPr>
          <p:cNvSpPr txBox="1"/>
          <p:nvPr/>
        </p:nvSpPr>
        <p:spPr>
          <a:xfrm>
            <a:off x="5893371" y="1636892"/>
            <a:ext cx="6097554" cy="4031873"/>
          </a:xfrm>
          <a:prstGeom prst="rect">
            <a:avLst/>
          </a:prstGeom>
          <a:noFill/>
        </p:spPr>
        <p:txBody>
          <a:bodyPr wrap="square">
            <a:spAutoFit/>
          </a:bodyPr>
          <a:lstStyle/>
          <a:p>
            <a:r>
              <a:rPr lang="en-US" sz="1600" b="0" i="0" dirty="0">
                <a:effectLst/>
              </a:rPr>
              <a:t>    The primary goal of an Amazon sales data analysis project is to uncover actionable insights that can drive business decisions and improve overall performance. This can include identifying trends in sales patterns, understanding customer behavior, optimizing product offerings, and enhancing marketing strategies.</a:t>
            </a:r>
          </a:p>
          <a:p>
            <a:endParaRPr lang="en-US" sz="1600" b="0" i="0" dirty="0">
              <a:effectLst/>
            </a:endParaRPr>
          </a:p>
          <a:p>
            <a:r>
              <a:rPr lang="en-US" sz="1600" dirty="0"/>
              <a:t>     </a:t>
            </a:r>
            <a:r>
              <a:rPr lang="en-US" sz="1600" b="0" i="0" dirty="0">
                <a:effectLst/>
              </a:rPr>
              <a:t>By analyzing sales data, the aim is to identify areas of strength and areas for improvement within the Amazon marketplace, ultimately leading to increased revenue, customer satisfaction, and competitive advantage.  </a:t>
            </a:r>
          </a:p>
          <a:p>
            <a:endParaRPr lang="en-US" sz="1600" b="0" i="0" dirty="0">
              <a:effectLst/>
            </a:endParaRPr>
          </a:p>
          <a:p>
            <a:r>
              <a:rPr lang="en-US" sz="1600" dirty="0"/>
              <a:t>    </a:t>
            </a:r>
            <a:r>
              <a:rPr lang="en-US" sz="1600" b="0" i="0" dirty="0">
                <a:effectLst/>
              </a:rPr>
              <a:t>Additionally, the project may focus on identifying opportunities for operational efficiencies, such as supply chain optimization or inventory management improvements. Overall, the primary goal is to leverage data-driven insights to drive growth and success within the Amazon ecosystem.</a:t>
            </a:r>
            <a:endParaRPr lang="en-IN" sz="1600" dirty="0"/>
          </a:p>
        </p:txBody>
      </p:sp>
      <p:pic>
        <p:nvPicPr>
          <p:cNvPr id="2" name="Picture 1">
            <a:extLst>
              <a:ext uri="{FF2B5EF4-FFF2-40B4-BE49-F238E27FC236}">
                <a16:creationId xmlns:a16="http://schemas.microsoft.com/office/drawing/2014/main" id="{452EDA51-F49A-64E0-D9A8-1A462391EC01}"/>
              </a:ext>
            </a:extLst>
          </p:cNvPr>
          <p:cNvPicPr>
            <a:picLocks noChangeAspect="1"/>
          </p:cNvPicPr>
          <p:nvPr/>
        </p:nvPicPr>
        <p:blipFill>
          <a:blip r:embed="rId5"/>
          <a:stretch>
            <a:fillRect/>
          </a:stretch>
        </p:blipFill>
        <p:spPr>
          <a:xfrm>
            <a:off x="10160" y="6244798"/>
            <a:ext cx="1811560" cy="612109"/>
          </a:xfrm>
          <a:prstGeom prst="rect">
            <a:avLst/>
          </a:prstGeom>
        </p:spPr>
      </p:pic>
    </p:spTree>
    <p:extLst>
      <p:ext uri="{BB962C8B-B14F-4D97-AF65-F5344CB8AC3E}">
        <p14:creationId xmlns:p14="http://schemas.microsoft.com/office/powerpoint/2010/main" val="247807961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 name="Picture Placeholder 191" descr="Abacus with solid fill">
            <a:extLst>
              <a:ext uri="{FF2B5EF4-FFF2-40B4-BE49-F238E27FC236}">
                <a16:creationId xmlns:a16="http://schemas.microsoft.com/office/drawing/2014/main" id="{03D5E3D1-D423-EF5A-EE43-00CF1BD7FF63}"/>
              </a:ext>
            </a:extLst>
          </p:cNvPr>
          <p:cNvPicPr>
            <a:picLocks noGrp="1" noChangeAspect="1"/>
          </p:cNvPicPr>
          <p:nvPr>
            <p:ph type="pic" sz="quarter" idx="36"/>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5182" r="5182"/>
          <a:stretch>
            <a:fillRect/>
          </a:stretch>
        </p:blipFill>
        <p:spPr>
          <a:xfrm>
            <a:off x="4734172" y="992373"/>
            <a:ext cx="507778" cy="565882"/>
          </a:xfrm>
        </p:spPr>
      </p:pic>
      <p:sp>
        <p:nvSpPr>
          <p:cNvPr id="9" name="Text Placeholder 8">
            <a:extLst>
              <a:ext uri="{FF2B5EF4-FFF2-40B4-BE49-F238E27FC236}">
                <a16:creationId xmlns:a16="http://schemas.microsoft.com/office/drawing/2014/main" id="{FA96FE97-5E27-FC36-5E3A-511A31E6C789}"/>
              </a:ext>
            </a:extLst>
          </p:cNvPr>
          <p:cNvSpPr>
            <a:spLocks noGrp="1"/>
          </p:cNvSpPr>
          <p:nvPr>
            <p:ph type="body" sz="quarter" idx="27"/>
          </p:nvPr>
        </p:nvSpPr>
        <p:spPr/>
        <p:txBody>
          <a:bodyPr/>
          <a:lstStyle/>
          <a:p>
            <a:r>
              <a:rPr lang="en-US" sz="2400" dirty="0"/>
              <a:t>Tools Used:</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28"/>
          </p:nvPr>
        </p:nvSpPr>
        <p:spPr>
          <a:xfrm>
            <a:off x="5271608" y="1469069"/>
            <a:ext cx="5162709" cy="732955"/>
          </a:xfrm>
        </p:spPr>
        <p:txBody>
          <a:bodyPr/>
          <a:lstStyle/>
          <a:p>
            <a:r>
              <a:rPr lang="en-US" sz="1800" dirty="0"/>
              <a:t>Microsoft Excel</a:t>
            </a:r>
          </a:p>
          <a:p>
            <a:r>
              <a:rPr lang="en-US" sz="1800" dirty="0"/>
              <a:t>MySQL</a:t>
            </a:r>
          </a:p>
          <a:p>
            <a:r>
              <a:rPr lang="en-US" sz="1800" dirty="0"/>
              <a:t>Power BI</a:t>
            </a:r>
          </a:p>
        </p:txBody>
      </p:sp>
      <p:pic>
        <p:nvPicPr>
          <p:cNvPr id="196" name="Picture Placeholder 195" descr="Link with solid fill">
            <a:extLst>
              <a:ext uri="{FF2B5EF4-FFF2-40B4-BE49-F238E27FC236}">
                <a16:creationId xmlns:a16="http://schemas.microsoft.com/office/drawing/2014/main" id="{B21D7164-3991-2960-0F80-CB302359CD8D}"/>
              </a:ext>
            </a:extLst>
          </p:cNvPr>
          <p:cNvPicPr>
            <a:picLocks noGrp="1" noChangeAspect="1"/>
          </p:cNvPicPr>
          <p:nvPr>
            <p:ph type="pic" sz="quarter" idx="38"/>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2528" r="2528"/>
          <a:stretch>
            <a:fillRect/>
          </a:stretch>
        </p:blipFill>
        <p:spPr>
          <a:xfrm>
            <a:off x="4714069" y="3101837"/>
            <a:ext cx="536270" cy="565882"/>
          </a:xfrm>
        </p:spPr>
      </p:pic>
      <p:sp>
        <p:nvSpPr>
          <p:cNvPr id="12" name="Text Placeholder 11">
            <a:extLst>
              <a:ext uri="{FF2B5EF4-FFF2-40B4-BE49-F238E27FC236}">
                <a16:creationId xmlns:a16="http://schemas.microsoft.com/office/drawing/2014/main" id="{D3E02E0C-26E8-8160-D35F-2398015C051B}"/>
              </a:ext>
            </a:extLst>
          </p:cNvPr>
          <p:cNvSpPr>
            <a:spLocks noGrp="1"/>
          </p:cNvSpPr>
          <p:nvPr>
            <p:ph type="body" sz="quarter" idx="31"/>
          </p:nvPr>
        </p:nvSpPr>
        <p:spPr>
          <a:xfrm>
            <a:off x="5271607" y="3141896"/>
            <a:ext cx="5162709" cy="421399"/>
          </a:xfrm>
        </p:spPr>
        <p:txBody>
          <a:bodyPr/>
          <a:lstStyle/>
          <a:p>
            <a:r>
              <a:rPr lang="en-IN" sz="2400" dirty="0"/>
              <a:t>Approach Used:</a:t>
            </a:r>
            <a:endParaRPr lang="en-US" sz="2400" dirty="0"/>
          </a:p>
        </p:txBody>
      </p:sp>
      <p:sp>
        <p:nvSpPr>
          <p:cNvPr id="14" name="Text Placeholder 13">
            <a:extLst>
              <a:ext uri="{FF2B5EF4-FFF2-40B4-BE49-F238E27FC236}">
                <a16:creationId xmlns:a16="http://schemas.microsoft.com/office/drawing/2014/main" id="{C78180D0-1AB6-8416-0EB1-10648E1A6050}"/>
              </a:ext>
            </a:extLst>
          </p:cNvPr>
          <p:cNvSpPr>
            <a:spLocks noGrp="1"/>
          </p:cNvSpPr>
          <p:nvPr>
            <p:ph type="body" sz="quarter" idx="35"/>
          </p:nvPr>
        </p:nvSpPr>
        <p:spPr>
          <a:xfrm>
            <a:off x="5271608" y="3586345"/>
            <a:ext cx="5162709" cy="2058675"/>
          </a:xfrm>
        </p:spPr>
        <p:txBody>
          <a:bodyPr/>
          <a:lstStyle/>
          <a:p>
            <a:r>
              <a:rPr lang="en-US" sz="1800" dirty="0"/>
              <a:t>Data Wrangling</a:t>
            </a:r>
          </a:p>
          <a:p>
            <a:endParaRPr lang="en-US" sz="1800" dirty="0"/>
          </a:p>
          <a:p>
            <a:r>
              <a:rPr lang="en-US" sz="1800" dirty="0"/>
              <a:t>Feature Engineering</a:t>
            </a:r>
          </a:p>
          <a:p>
            <a:endParaRPr lang="en-US" sz="1800" dirty="0"/>
          </a:p>
          <a:p>
            <a:r>
              <a:rPr lang="en-US" sz="1800" dirty="0"/>
              <a:t>Exploratory Data Analysis</a:t>
            </a:r>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6</a:t>
            </a:fld>
            <a:endParaRPr lang="en-US" altLang="zh-CN" dirty="0"/>
          </a:p>
        </p:txBody>
      </p:sp>
    </p:spTree>
    <p:extLst>
      <p:ext uri="{BB962C8B-B14F-4D97-AF65-F5344CB8AC3E}">
        <p14:creationId xmlns:p14="http://schemas.microsoft.com/office/powerpoint/2010/main" val="251972708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92"/>
                                        </p:tgtEl>
                                        <p:attrNameLst>
                                          <p:attrName>style.visibility</p:attrName>
                                        </p:attrNameLst>
                                      </p:cBhvr>
                                      <p:to>
                                        <p:strVal val="visible"/>
                                      </p:to>
                                    </p:set>
                                    <p:anim calcmode="lin" valueType="num">
                                      <p:cBhvr>
                                        <p:cTn id="12" dur="500" fill="hold"/>
                                        <p:tgtEl>
                                          <p:spTgt spid="192"/>
                                        </p:tgtEl>
                                        <p:attrNameLst>
                                          <p:attrName>ppt_w</p:attrName>
                                        </p:attrNameLst>
                                      </p:cBhvr>
                                      <p:tavLst>
                                        <p:tav tm="0">
                                          <p:val>
                                            <p:fltVal val="0"/>
                                          </p:val>
                                        </p:tav>
                                        <p:tav tm="100000">
                                          <p:val>
                                            <p:strVal val="#ppt_w"/>
                                          </p:val>
                                        </p:tav>
                                      </p:tavLst>
                                    </p:anim>
                                    <p:anim calcmode="lin" valueType="num">
                                      <p:cBhvr>
                                        <p:cTn id="13" dur="500" fill="hold"/>
                                        <p:tgtEl>
                                          <p:spTgt spid="192"/>
                                        </p:tgtEl>
                                        <p:attrNameLst>
                                          <p:attrName>ppt_h</p:attrName>
                                        </p:attrNameLst>
                                      </p:cBhvr>
                                      <p:tavLst>
                                        <p:tav tm="0">
                                          <p:val>
                                            <p:fltVal val="0"/>
                                          </p:val>
                                        </p:tav>
                                        <p:tav tm="100000">
                                          <p:val>
                                            <p:strVal val="#ppt_h"/>
                                          </p:val>
                                        </p:tav>
                                      </p:tavLst>
                                    </p:anim>
                                    <p:animEffect transition="in" filter="fade">
                                      <p:cBhvr>
                                        <p:cTn id="14" dur="500"/>
                                        <p:tgtEl>
                                          <p:spTgt spid="192"/>
                                        </p:tgtEl>
                                      </p:cBhvr>
                                    </p:animEffect>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 calcmode="lin" valueType="num">
                                      <p:cBhvr additive="base">
                                        <p:cTn id="18"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 presetClass="entr" presetSubtype="4" fill="hold" grpId="0" nodeType="afterEffect">
                                  <p:stCondLst>
                                    <p:cond delay="0"/>
                                  </p:stCondLst>
                                  <p:childTnLst>
                                    <p:set>
                                      <p:cBhvr>
                                        <p:cTn id="22" dur="1" fill="hold">
                                          <p:stCondLst>
                                            <p:cond delay="0"/>
                                          </p:stCondLst>
                                        </p:cTn>
                                        <p:tgtEl>
                                          <p:spTgt spid="10">
                                            <p:txEl>
                                              <p:pRg st="1" end="1"/>
                                            </p:txEl>
                                          </p:spTgt>
                                        </p:tgtEl>
                                        <p:attrNameLst>
                                          <p:attrName>style.visibility</p:attrName>
                                        </p:attrNameLst>
                                      </p:cBhvr>
                                      <p:to>
                                        <p:strVal val="visible"/>
                                      </p:to>
                                    </p:set>
                                    <p:anim calcmode="lin" valueType="num">
                                      <p:cBhvr additive="base">
                                        <p:cTn id="2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par>
                          <p:cTn id="25" fill="hold">
                            <p:stCondLst>
                              <p:cond delay="1500"/>
                            </p:stCondLst>
                            <p:childTnLst>
                              <p:par>
                                <p:cTn id="26" presetID="2" presetClass="entr" presetSubtype="4" fill="hold" grpId="0" nodeType="after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 calcmode="lin" valueType="num">
                                      <p:cBhvr additive="base">
                                        <p:cTn id="28"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par>
                          <p:cTn id="30" fill="hold">
                            <p:stCondLst>
                              <p:cond delay="2000"/>
                            </p:stCondLst>
                            <p:childTnLst>
                              <p:par>
                                <p:cTn id="31" presetID="53" presetClass="entr" presetSubtype="16" fill="hold" grpId="0" nodeType="afterEffect">
                                  <p:stCondLst>
                                    <p:cond delay="0"/>
                                  </p:stCondLst>
                                  <p:childTnLst>
                                    <p:set>
                                      <p:cBhvr>
                                        <p:cTn id="32" dur="1" fill="hold">
                                          <p:stCondLst>
                                            <p:cond delay="0"/>
                                          </p:stCondLst>
                                        </p:cTn>
                                        <p:tgtEl>
                                          <p:spTgt spid="12">
                                            <p:txEl>
                                              <p:pRg st="0" end="0"/>
                                            </p:txEl>
                                          </p:spTgt>
                                        </p:tgtEl>
                                        <p:attrNameLst>
                                          <p:attrName>style.visibility</p:attrName>
                                        </p:attrNameLst>
                                      </p:cBhvr>
                                      <p:to>
                                        <p:strVal val="visible"/>
                                      </p:to>
                                    </p:set>
                                    <p:anim calcmode="lin" valueType="num">
                                      <p:cBhvr>
                                        <p:cTn id="33"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12">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12">
                                            <p:txEl>
                                              <p:pRg st="0" end="0"/>
                                            </p:txEl>
                                          </p:spTgt>
                                        </p:tgtEl>
                                      </p:cBhvr>
                                    </p:animEffect>
                                  </p:childTnLst>
                                </p:cTn>
                              </p:par>
                              <p:par>
                                <p:cTn id="36" presetID="53" presetClass="entr" presetSubtype="16" fill="hold" nodeType="withEffect">
                                  <p:stCondLst>
                                    <p:cond delay="0"/>
                                  </p:stCondLst>
                                  <p:childTnLst>
                                    <p:set>
                                      <p:cBhvr>
                                        <p:cTn id="37" dur="1" fill="hold">
                                          <p:stCondLst>
                                            <p:cond delay="0"/>
                                          </p:stCondLst>
                                        </p:cTn>
                                        <p:tgtEl>
                                          <p:spTgt spid="196"/>
                                        </p:tgtEl>
                                        <p:attrNameLst>
                                          <p:attrName>style.visibility</p:attrName>
                                        </p:attrNameLst>
                                      </p:cBhvr>
                                      <p:to>
                                        <p:strVal val="visible"/>
                                      </p:to>
                                    </p:set>
                                    <p:anim calcmode="lin" valueType="num">
                                      <p:cBhvr>
                                        <p:cTn id="38" dur="500" fill="hold"/>
                                        <p:tgtEl>
                                          <p:spTgt spid="196"/>
                                        </p:tgtEl>
                                        <p:attrNameLst>
                                          <p:attrName>ppt_w</p:attrName>
                                        </p:attrNameLst>
                                      </p:cBhvr>
                                      <p:tavLst>
                                        <p:tav tm="0">
                                          <p:val>
                                            <p:fltVal val="0"/>
                                          </p:val>
                                        </p:tav>
                                        <p:tav tm="100000">
                                          <p:val>
                                            <p:strVal val="#ppt_w"/>
                                          </p:val>
                                        </p:tav>
                                      </p:tavLst>
                                    </p:anim>
                                    <p:anim calcmode="lin" valueType="num">
                                      <p:cBhvr>
                                        <p:cTn id="39" dur="500" fill="hold"/>
                                        <p:tgtEl>
                                          <p:spTgt spid="196"/>
                                        </p:tgtEl>
                                        <p:attrNameLst>
                                          <p:attrName>ppt_h</p:attrName>
                                        </p:attrNameLst>
                                      </p:cBhvr>
                                      <p:tavLst>
                                        <p:tav tm="0">
                                          <p:val>
                                            <p:fltVal val="0"/>
                                          </p:val>
                                        </p:tav>
                                        <p:tav tm="100000">
                                          <p:val>
                                            <p:strVal val="#ppt_h"/>
                                          </p:val>
                                        </p:tav>
                                      </p:tavLst>
                                    </p:anim>
                                    <p:animEffect transition="in" filter="fade">
                                      <p:cBhvr>
                                        <p:cTn id="40" dur="500"/>
                                        <p:tgtEl>
                                          <p:spTgt spid="196"/>
                                        </p:tgtEl>
                                      </p:cBhvr>
                                    </p:animEffect>
                                  </p:childTnLst>
                                </p:cTn>
                              </p:par>
                            </p:childTnLst>
                          </p:cTn>
                        </p:par>
                        <p:par>
                          <p:cTn id="41" fill="hold">
                            <p:stCondLst>
                              <p:cond delay="2500"/>
                            </p:stCondLst>
                            <p:childTnLst>
                              <p:par>
                                <p:cTn id="42" presetID="2" presetClass="entr" presetSubtype="4" fill="hold" grpId="0" nodeType="afterEffect">
                                  <p:stCondLst>
                                    <p:cond delay="0"/>
                                  </p:stCondLst>
                                  <p:childTnLst>
                                    <p:set>
                                      <p:cBhvr>
                                        <p:cTn id="43" dur="1" fill="hold">
                                          <p:stCondLst>
                                            <p:cond delay="0"/>
                                          </p:stCondLst>
                                        </p:cTn>
                                        <p:tgtEl>
                                          <p:spTgt spid="14">
                                            <p:txEl>
                                              <p:pRg st="0" end="0"/>
                                            </p:txEl>
                                          </p:spTgt>
                                        </p:tgtEl>
                                        <p:attrNameLst>
                                          <p:attrName>style.visibility</p:attrName>
                                        </p:attrNameLst>
                                      </p:cBhvr>
                                      <p:to>
                                        <p:strVal val="visible"/>
                                      </p:to>
                                    </p:set>
                                    <p:anim calcmode="lin" valueType="num">
                                      <p:cBhvr additive="base">
                                        <p:cTn id="44"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par>
                          <p:cTn id="46" fill="hold">
                            <p:stCondLst>
                              <p:cond delay="3000"/>
                            </p:stCondLst>
                            <p:childTnLst>
                              <p:par>
                                <p:cTn id="47" presetID="2" presetClass="entr" presetSubtype="4" fill="hold" grpId="0" nodeType="afterEffect">
                                  <p:stCondLst>
                                    <p:cond delay="0"/>
                                  </p:stCondLst>
                                  <p:childTnLst>
                                    <p:set>
                                      <p:cBhvr>
                                        <p:cTn id="48" dur="1" fill="hold">
                                          <p:stCondLst>
                                            <p:cond delay="0"/>
                                          </p:stCondLst>
                                        </p:cTn>
                                        <p:tgtEl>
                                          <p:spTgt spid="14">
                                            <p:txEl>
                                              <p:pRg st="2" end="2"/>
                                            </p:txEl>
                                          </p:spTgt>
                                        </p:tgtEl>
                                        <p:attrNameLst>
                                          <p:attrName>style.visibility</p:attrName>
                                        </p:attrNameLst>
                                      </p:cBhvr>
                                      <p:to>
                                        <p:strVal val="visible"/>
                                      </p:to>
                                    </p:set>
                                    <p:anim calcmode="lin" valueType="num">
                                      <p:cBhvr additive="base">
                                        <p:cTn id="4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par>
                          <p:cTn id="51" fill="hold">
                            <p:stCondLst>
                              <p:cond delay="3500"/>
                            </p:stCondLst>
                            <p:childTnLst>
                              <p:par>
                                <p:cTn id="52" presetID="2" presetClass="entr" presetSubtype="4" fill="hold" grpId="0" nodeType="afterEffect">
                                  <p:stCondLst>
                                    <p:cond delay="0"/>
                                  </p:stCondLst>
                                  <p:childTnLst>
                                    <p:set>
                                      <p:cBhvr>
                                        <p:cTn id="53" dur="1" fill="hold">
                                          <p:stCondLst>
                                            <p:cond delay="0"/>
                                          </p:stCondLst>
                                        </p:cTn>
                                        <p:tgtEl>
                                          <p:spTgt spid="14">
                                            <p:txEl>
                                              <p:pRg st="4" end="4"/>
                                            </p:txEl>
                                          </p:spTgt>
                                        </p:tgtEl>
                                        <p:attrNameLst>
                                          <p:attrName>style.visibility</p:attrName>
                                        </p:attrNameLst>
                                      </p:cBhvr>
                                      <p:to>
                                        <p:strVal val="visible"/>
                                      </p:to>
                                    </p:set>
                                    <p:anim calcmode="lin" valueType="num">
                                      <p:cBhvr additive="base">
                                        <p:cTn id="54"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uiExpand="1" build="p"/>
      <p:bldP spid="12" grpId="0" build="p"/>
      <p:bldP spid="14"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1C7500-E032-DBB5-A780-8247E3B7367B}"/>
              </a:ext>
            </a:extLst>
          </p:cNvPr>
          <p:cNvSpPr>
            <a:spLocks noGrp="1"/>
          </p:cNvSpPr>
          <p:nvPr>
            <p:ph type="sldNum" sz="quarter" idx="31"/>
          </p:nvPr>
        </p:nvSpPr>
        <p:spPr/>
        <p:txBody>
          <a:bodyPr/>
          <a:lstStyle/>
          <a:p>
            <a:fld id="{47FEACEE-25B4-4A2D-B147-27296E36371D}" type="slidenum">
              <a:rPr lang="en-US" altLang="zh-CN" noProof="0" smtClean="0"/>
              <a:pPr/>
              <a:t>7</a:t>
            </a:fld>
            <a:endParaRPr lang="en-US" altLang="zh-CN" noProof="0" dirty="0"/>
          </a:p>
        </p:txBody>
      </p:sp>
      <p:pic>
        <p:nvPicPr>
          <p:cNvPr id="10" name="Picture 9">
            <a:extLst>
              <a:ext uri="{FF2B5EF4-FFF2-40B4-BE49-F238E27FC236}">
                <a16:creationId xmlns:a16="http://schemas.microsoft.com/office/drawing/2014/main" id="{99F517FC-7A53-670A-55AF-207CF966307F}"/>
              </a:ext>
            </a:extLst>
          </p:cNvPr>
          <p:cNvPicPr>
            <a:picLocks noChangeAspect="1"/>
          </p:cNvPicPr>
          <p:nvPr/>
        </p:nvPicPr>
        <p:blipFill>
          <a:blip r:embed="rId3"/>
          <a:stretch>
            <a:fillRect/>
          </a:stretch>
        </p:blipFill>
        <p:spPr>
          <a:xfrm>
            <a:off x="3930983" y="1443781"/>
            <a:ext cx="7492482" cy="4764823"/>
          </a:xfrm>
          <a:prstGeom prst="rect">
            <a:avLst/>
          </a:prstGeom>
        </p:spPr>
      </p:pic>
      <p:pic>
        <p:nvPicPr>
          <p:cNvPr id="15" name="Picture 14">
            <a:extLst>
              <a:ext uri="{FF2B5EF4-FFF2-40B4-BE49-F238E27FC236}">
                <a16:creationId xmlns:a16="http://schemas.microsoft.com/office/drawing/2014/main" id="{9D0AE6E6-4DC8-C4E1-751D-2590DCB55479}"/>
              </a:ext>
            </a:extLst>
          </p:cNvPr>
          <p:cNvPicPr>
            <a:picLocks noChangeAspect="1"/>
          </p:cNvPicPr>
          <p:nvPr/>
        </p:nvPicPr>
        <p:blipFill>
          <a:blip r:embed="rId4"/>
          <a:stretch>
            <a:fillRect/>
          </a:stretch>
        </p:blipFill>
        <p:spPr>
          <a:xfrm>
            <a:off x="289249" y="649396"/>
            <a:ext cx="4973215" cy="4764823"/>
          </a:xfrm>
          <a:prstGeom prst="rect">
            <a:avLst/>
          </a:prstGeom>
        </p:spPr>
      </p:pic>
      <p:sp>
        <p:nvSpPr>
          <p:cNvPr id="16" name="TextBox 15">
            <a:extLst>
              <a:ext uri="{FF2B5EF4-FFF2-40B4-BE49-F238E27FC236}">
                <a16:creationId xmlns:a16="http://schemas.microsoft.com/office/drawing/2014/main" id="{70F2ADF7-D527-8791-82EE-A619F98288AF}"/>
              </a:ext>
            </a:extLst>
          </p:cNvPr>
          <p:cNvSpPr txBox="1"/>
          <p:nvPr/>
        </p:nvSpPr>
        <p:spPr>
          <a:xfrm>
            <a:off x="5926858" y="438539"/>
            <a:ext cx="3273125" cy="769441"/>
          </a:xfrm>
          <a:prstGeom prst="rect">
            <a:avLst/>
          </a:prstGeom>
        </p:spPr>
        <p:txBody>
          <a:bodyPr wrap="square" rtlCol="0">
            <a:spAutoFit/>
          </a:bodyPr>
          <a:lstStyle/>
          <a:p>
            <a:pPr marL="0" indent="0" algn="ctr">
              <a:lnSpc>
                <a:spcPct val="100000"/>
              </a:lnSpc>
              <a:spcBef>
                <a:spcPts val="0"/>
              </a:spcBef>
              <a:buFontTx/>
              <a:buNone/>
            </a:pPr>
            <a:r>
              <a:rPr lang="en-US" sz="4400" dirty="0">
                <a:latin typeface="+mj-lt"/>
              </a:rPr>
              <a:t>ER Diagram</a:t>
            </a:r>
            <a:endParaRPr lang="en-IN" sz="4400" dirty="0">
              <a:solidFill>
                <a:prstClr val="white"/>
              </a:solidFill>
              <a:latin typeface="+mj-lt"/>
              <a:ea typeface="微软雅黑"/>
              <a:cs typeface="Posterama" panose="020B0504020200020000" pitchFamily="34" charset="0"/>
            </a:endParaRPr>
          </a:p>
        </p:txBody>
      </p:sp>
      <p:pic>
        <p:nvPicPr>
          <p:cNvPr id="2" name="Picture 1">
            <a:extLst>
              <a:ext uri="{FF2B5EF4-FFF2-40B4-BE49-F238E27FC236}">
                <a16:creationId xmlns:a16="http://schemas.microsoft.com/office/drawing/2014/main" id="{B4300D26-72AB-68AE-9434-EBC7F7699611}"/>
              </a:ext>
            </a:extLst>
          </p:cNvPr>
          <p:cNvPicPr>
            <a:picLocks noChangeAspect="1"/>
          </p:cNvPicPr>
          <p:nvPr/>
        </p:nvPicPr>
        <p:blipFill>
          <a:blip r:embed="rId5"/>
          <a:stretch>
            <a:fillRect/>
          </a:stretch>
        </p:blipFill>
        <p:spPr>
          <a:xfrm>
            <a:off x="10160" y="6244798"/>
            <a:ext cx="1811560" cy="612109"/>
          </a:xfrm>
          <a:prstGeom prst="rect">
            <a:avLst/>
          </a:prstGeom>
        </p:spPr>
      </p:pic>
    </p:spTree>
    <p:extLst>
      <p:ext uri="{BB962C8B-B14F-4D97-AF65-F5344CB8AC3E}">
        <p14:creationId xmlns:p14="http://schemas.microsoft.com/office/powerpoint/2010/main" val="26548660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style.rotation</p:attrName>
                                        </p:attrNameLst>
                                      </p:cBhvr>
                                      <p:tavLst>
                                        <p:tav tm="0">
                                          <p:val>
                                            <p:fltVal val="90"/>
                                          </p:val>
                                        </p:tav>
                                        <p:tav tm="100000">
                                          <p:val>
                                            <p:fltVal val="0"/>
                                          </p:val>
                                        </p:tav>
                                      </p:tavLst>
                                    </p:anim>
                                    <p:animEffect transition="in" filter="fade">
                                      <p:cBhvr>
                                        <p:cTn id="1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8</a:t>
            </a:fld>
            <a:endParaRPr lang="en-US" altLang="zh-CN" dirty="0"/>
          </a:p>
        </p:txBody>
      </p:sp>
      <p:sp>
        <p:nvSpPr>
          <p:cNvPr id="19" name="Title 45">
            <a:extLst>
              <a:ext uri="{FF2B5EF4-FFF2-40B4-BE49-F238E27FC236}">
                <a16:creationId xmlns:a16="http://schemas.microsoft.com/office/drawing/2014/main" id="{0AFB86E6-E55F-EB21-0709-984D641159FD}"/>
              </a:ext>
            </a:extLst>
          </p:cNvPr>
          <p:cNvSpPr>
            <a:spLocks noGrp="1"/>
          </p:cNvSpPr>
          <p:nvPr>
            <p:ph type="title"/>
          </p:nvPr>
        </p:nvSpPr>
        <p:spPr>
          <a:xfrm>
            <a:off x="4077476" y="254267"/>
            <a:ext cx="6251511" cy="749707"/>
          </a:xfrm>
        </p:spPr>
        <p:txBody>
          <a:bodyPr/>
          <a:lstStyle/>
          <a:p>
            <a:r>
              <a:rPr lang="en-US" dirty="0"/>
              <a:t>Sales and Profit Analysis</a:t>
            </a:r>
          </a:p>
        </p:txBody>
      </p:sp>
      <p:sp>
        <p:nvSpPr>
          <p:cNvPr id="22" name="TextBox 21">
            <a:extLst>
              <a:ext uri="{FF2B5EF4-FFF2-40B4-BE49-F238E27FC236}">
                <a16:creationId xmlns:a16="http://schemas.microsoft.com/office/drawing/2014/main" id="{2D6B94A6-F680-ABA2-0B04-C69FEC15B5DF}"/>
              </a:ext>
            </a:extLst>
          </p:cNvPr>
          <p:cNvSpPr txBox="1"/>
          <p:nvPr/>
        </p:nvSpPr>
        <p:spPr>
          <a:xfrm>
            <a:off x="3357738" y="1042916"/>
            <a:ext cx="8024326" cy="5407506"/>
          </a:xfrm>
          <a:prstGeom prst="rect">
            <a:avLst/>
          </a:prstGeom>
        </p:spPr>
        <p:txBody>
          <a:bodyPr wrap="square" rtlCol="0">
            <a:spAutoFit/>
          </a:bodyPr>
          <a:lstStyle/>
          <a:p>
            <a:pPr marL="285750" lvl="0" indent="-285750">
              <a:lnSpc>
                <a:spcPct val="107000"/>
              </a:lnSpc>
              <a:buFont typeface="Wingdings" panose="05000000000000000000" pitchFamily="2" charset="2"/>
              <a:buChar char="Ø"/>
            </a:pPr>
            <a:r>
              <a:rPr lang="en-IN" sz="1800" u="sng" kern="100" dirty="0">
                <a:effectLst/>
                <a:latin typeface="Calibri" panose="020F0502020204030204" pitchFamily="34" charset="0"/>
                <a:ea typeface="Calibri" panose="020F0502020204030204" pitchFamily="34" charset="0"/>
                <a:cs typeface="Times New Roman" panose="02020603050405020304" pitchFamily="18" charset="0"/>
              </a:rPr>
              <a:t>In 2012</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Technology category emerged as the market leader with total sales reaching approximately $8 lakh marking a 22% increase over Office Supplies which have the lowest sales at $7 lakh.</a:t>
            </a:r>
          </a:p>
          <a:p>
            <a:pPr marL="342900" lvl="0" indent="-342900">
              <a:lnSpc>
                <a:spcPct val="107000"/>
              </a:lnSpc>
              <a:buFont typeface="Wingdings" panose="05000000000000000000" pitchFamily="2" charset="2"/>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&amp; there is largest divergence between Total Sales and Total Profit within the Technology sector, with sales surpassing profit by    $7 lakh, indicating substantial investment and possibly higher costs associated with technological advancements.</a:t>
            </a: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07000"/>
              </a:lnSpc>
              <a:buFont typeface="Wingdings" panose="05000000000000000000" pitchFamily="2" charset="2"/>
              <a:buChar char="Ø"/>
            </a:pPr>
            <a:r>
              <a:rPr lang="en-IN" sz="1800" u="sng" kern="100" dirty="0">
                <a:effectLst/>
                <a:latin typeface="Calibri" panose="020F0502020204030204" pitchFamily="34" charset="0"/>
                <a:ea typeface="Calibri" panose="020F0502020204030204" pitchFamily="34" charset="0"/>
                <a:cs typeface="Times New Roman" panose="02020603050405020304" pitchFamily="18" charset="0"/>
              </a:rPr>
              <a:t>The following year, 2013</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we continued to see that the Technology leading the charge with total sales of around $10 lakh, a 29% leap from Office Supplies' sales of $8 lakh. </a:t>
            </a:r>
          </a:p>
          <a:p>
            <a:pPr marL="342900" lvl="0" indent="-342900">
              <a:lnSpc>
                <a:spcPct val="107000"/>
              </a:lnSpc>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 positive correlation between Total Sales and Total Profit was noted, suggesting a more efficient conversion of sales into profit. </a:t>
            </a:r>
          </a:p>
          <a:p>
            <a:pPr marL="342900" lvl="0" indent="-342900">
              <a:lnSpc>
                <a:spcPct val="107000"/>
              </a:lnSpc>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Despite this, the Technology category still experienced a significant gap where sales exceeded profit by $7 lakh, reflecting a consistent pattern of high revenue yet considerable costs.</a:t>
            </a: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0000"/>
              </a:lnSpc>
              <a:spcBef>
                <a:spcPts val="0"/>
              </a:spcBef>
              <a:buFontTx/>
              <a:buNone/>
            </a:pPr>
            <a:endParaRPr lang="en-IN" sz="1800" dirty="0">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183574390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9</a:t>
            </a:fld>
            <a:endParaRPr lang="en-US" altLang="zh-CN" dirty="0"/>
          </a:p>
        </p:txBody>
      </p:sp>
      <p:sp>
        <p:nvSpPr>
          <p:cNvPr id="19" name="Title 45">
            <a:extLst>
              <a:ext uri="{FF2B5EF4-FFF2-40B4-BE49-F238E27FC236}">
                <a16:creationId xmlns:a16="http://schemas.microsoft.com/office/drawing/2014/main" id="{0AFB86E6-E55F-EB21-0709-984D641159FD}"/>
              </a:ext>
            </a:extLst>
          </p:cNvPr>
          <p:cNvSpPr>
            <a:spLocks noGrp="1"/>
          </p:cNvSpPr>
          <p:nvPr>
            <p:ph type="title"/>
          </p:nvPr>
        </p:nvSpPr>
        <p:spPr>
          <a:xfrm>
            <a:off x="4077476" y="254267"/>
            <a:ext cx="6251511" cy="749707"/>
          </a:xfrm>
        </p:spPr>
        <p:txBody>
          <a:bodyPr/>
          <a:lstStyle/>
          <a:p>
            <a:r>
              <a:rPr lang="en-US" dirty="0"/>
              <a:t>Sales and Profit Analysis</a:t>
            </a:r>
          </a:p>
        </p:txBody>
      </p:sp>
      <p:sp>
        <p:nvSpPr>
          <p:cNvPr id="22" name="TextBox 21">
            <a:extLst>
              <a:ext uri="{FF2B5EF4-FFF2-40B4-BE49-F238E27FC236}">
                <a16:creationId xmlns:a16="http://schemas.microsoft.com/office/drawing/2014/main" id="{2D6B94A6-F680-ABA2-0B04-C69FEC15B5DF}"/>
              </a:ext>
            </a:extLst>
          </p:cNvPr>
          <p:cNvSpPr txBox="1"/>
          <p:nvPr/>
        </p:nvSpPr>
        <p:spPr>
          <a:xfrm>
            <a:off x="3357738" y="1042916"/>
            <a:ext cx="8024326" cy="5806461"/>
          </a:xfrm>
          <a:prstGeom prst="rect">
            <a:avLst/>
          </a:prstGeom>
        </p:spPr>
        <p:txBody>
          <a:bodyPr wrap="square" rtlCol="0">
            <a:spAutoFit/>
          </a:bodyPr>
          <a:lstStyle/>
          <a:p>
            <a:pPr marL="342900" lvl="0" indent="-342900">
              <a:lnSpc>
                <a:spcPct val="107000"/>
              </a:lnSpc>
              <a:buFont typeface="Wingdings" panose="05000000000000000000" pitchFamily="2" charset="2"/>
              <a:buChar char=""/>
            </a:pPr>
            <a:r>
              <a:rPr lang="en-IN" sz="1800" u="sng" kern="100" dirty="0">
                <a:effectLst/>
                <a:latin typeface="Calibri" panose="020F0502020204030204" pitchFamily="34" charset="0"/>
                <a:ea typeface="Calibri" panose="020F0502020204030204" pitchFamily="34" charset="0"/>
                <a:cs typeface="Times New Roman" panose="02020603050405020304" pitchFamily="18" charset="0"/>
              </a:rPr>
              <a:t>In 2014</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with Technology sales climbing to $12 lakh, more than Office Supplies by 26.36%. </a:t>
            </a:r>
          </a:p>
          <a:p>
            <a:pPr marL="342900" lvl="0" indent="-342900">
              <a:lnSpc>
                <a:spcPct val="107000"/>
              </a:lnSpc>
              <a:buFont typeface="Wingdings" panose="05000000000000000000" pitchFamily="2" charset="2"/>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Technology's share of Total Sales was 38%. </a:t>
            </a:r>
          </a:p>
          <a:p>
            <a:pPr marL="342900" lvl="0" indent="-342900">
              <a:lnSpc>
                <a:spcPct val="107000"/>
              </a:lnSpc>
              <a:buFont typeface="Wingdings" panose="05000000000000000000" pitchFamily="2" charset="2"/>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However, the gap between Total Sales and Total Profit widened further, with sales exceeding profit by an impressive $11 lakh, hinting at aggressive market expansion strategies and possibly increased production and operational expenses.</a:t>
            </a: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07000"/>
              </a:lnSpc>
              <a:buFont typeface="Wingdings" panose="05000000000000000000" pitchFamily="2" charset="2"/>
              <a:buChar char="Ø"/>
            </a:pPr>
            <a:r>
              <a:rPr lang="en-IN" sz="1800" u="sng" kern="100" dirty="0">
                <a:effectLst/>
                <a:latin typeface="Calibri" panose="020F0502020204030204" pitchFamily="34" charset="0"/>
                <a:ea typeface="Calibri" panose="020F0502020204030204" pitchFamily="34" charset="0"/>
                <a:cs typeface="Times New Roman" panose="02020603050405020304" pitchFamily="18" charset="0"/>
              </a:rPr>
              <a:t>By 2015</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gap between the highest and lowest sales categories narrowed slightly, with Technology sales at $16 lakh, only 23.77% higher than Office Supplies.</a:t>
            </a:r>
          </a:p>
          <a:p>
            <a:pPr marL="342900" lvl="0" indent="-342900">
              <a:lnSpc>
                <a:spcPct val="107000"/>
              </a:lnSpc>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positive correlation between Total Sales and Total Profit remained intact, reinforcing the notion of effective sales-to-profit conversion. </a:t>
            </a:r>
          </a:p>
          <a:p>
            <a:pPr marL="342900" lvl="0" indent="-342900">
              <a:lnSpc>
                <a:spcPct val="107000"/>
              </a:lnSpc>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Yet, the Technology sector continued to show the most significant disparity between sales and profit, with a difference of $14 lakh, potentially indicating a sustained reinvestment into technological innovation.</a:t>
            </a:r>
          </a:p>
          <a:p>
            <a:pPr marL="457200">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0000"/>
              </a:lnSpc>
              <a:spcBef>
                <a:spcPts val="0"/>
              </a:spcBef>
              <a:buFontTx/>
              <a:buNone/>
            </a:pPr>
            <a:endParaRPr lang="en-IN" sz="1800" dirty="0">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156029194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10</a:t>
            </a:fld>
            <a:endParaRPr lang="en-US" altLang="zh-CN" dirty="0"/>
          </a:p>
        </p:txBody>
      </p:sp>
      <p:sp>
        <p:nvSpPr>
          <p:cNvPr id="19" name="Title 45">
            <a:extLst>
              <a:ext uri="{FF2B5EF4-FFF2-40B4-BE49-F238E27FC236}">
                <a16:creationId xmlns:a16="http://schemas.microsoft.com/office/drawing/2014/main" id="{0AFB86E6-E55F-EB21-0709-984D641159FD}"/>
              </a:ext>
            </a:extLst>
          </p:cNvPr>
          <p:cNvSpPr>
            <a:spLocks noGrp="1"/>
          </p:cNvSpPr>
          <p:nvPr>
            <p:ph type="title"/>
          </p:nvPr>
        </p:nvSpPr>
        <p:spPr>
          <a:xfrm>
            <a:off x="4077476" y="254267"/>
            <a:ext cx="6251511" cy="749707"/>
          </a:xfrm>
        </p:spPr>
        <p:txBody>
          <a:bodyPr/>
          <a:lstStyle/>
          <a:p>
            <a:r>
              <a:rPr lang="en-US" dirty="0"/>
              <a:t>Sales and Profit Trends</a:t>
            </a:r>
          </a:p>
        </p:txBody>
      </p:sp>
      <p:sp>
        <p:nvSpPr>
          <p:cNvPr id="22" name="TextBox 21">
            <a:extLst>
              <a:ext uri="{FF2B5EF4-FFF2-40B4-BE49-F238E27FC236}">
                <a16:creationId xmlns:a16="http://schemas.microsoft.com/office/drawing/2014/main" id="{2D6B94A6-F680-ABA2-0B04-C69FEC15B5DF}"/>
              </a:ext>
            </a:extLst>
          </p:cNvPr>
          <p:cNvSpPr txBox="1"/>
          <p:nvPr/>
        </p:nvSpPr>
        <p:spPr>
          <a:xfrm>
            <a:off x="3329746" y="1003974"/>
            <a:ext cx="7978956" cy="6524607"/>
          </a:xfrm>
          <a:prstGeom prst="rect">
            <a:avLst/>
          </a:prstGeom>
        </p:spPr>
        <p:txBody>
          <a:bodyPr wrap="square" rtlCol="0">
            <a:spAutoFit/>
          </a:bodyPr>
          <a:lstStyle/>
          <a:p>
            <a:pPr>
              <a:lnSpc>
                <a:spcPct val="107000"/>
              </a:lnSpc>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2) </a:t>
            </a:r>
            <a:r>
              <a:rPr lang="en-IN" u="sng" kern="100" dirty="0">
                <a:latin typeface="Calibri" panose="020F0502020204030204" pitchFamily="34" charset="0"/>
                <a:ea typeface="Calibri" panose="020F0502020204030204" pitchFamily="34" charset="0"/>
                <a:cs typeface="Times New Roman" panose="02020603050405020304" pitchFamily="18" charset="0"/>
              </a:rPr>
              <a:t>F</a:t>
            </a:r>
            <a:r>
              <a:rPr lang="en-IN" sz="1800" u="sng" kern="100" dirty="0">
                <a:effectLst/>
                <a:latin typeface="Calibri" panose="020F0502020204030204" pitchFamily="34" charset="0"/>
                <a:ea typeface="Calibri" panose="020F0502020204030204" pitchFamily="34" charset="0"/>
                <a:cs typeface="Times New Roman" panose="02020603050405020304" pitchFamily="18" charset="0"/>
              </a:rPr>
              <a:t>or the year 2012</a:t>
            </a:r>
          </a:p>
          <a:p>
            <a:pPr marL="285750" indent="-285750">
              <a:lnSpc>
                <a:spcPct val="107000"/>
              </a:lnSpc>
              <a:spcAft>
                <a:spcPts val="800"/>
              </a:spcAft>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the first quarter of 2012 (January to March), sales rose steadily from $0.10 million to $0.14 million, showing a 40% increase. This positive growth marked a strong start to the year. However, in April, sales dropped to $0.11 million, a 21% decrease from March. The months following May showed sales fluctuating around $0.20 million, indicating market variability.</a:t>
            </a:r>
          </a:p>
          <a:p>
            <a:pPr marL="285750" indent="-285750">
              <a:lnSpc>
                <a:spcPct val="107000"/>
              </a:lnSpc>
              <a:spcAft>
                <a:spcPts val="800"/>
              </a:spcAft>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From July to September, sales remained stable at around $0.21 million, possibly suggesting a consistent customer base or market saturation. The most notable change occurred in December, with sales soaring to $0.32 million. </a:t>
            </a: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2) </a:t>
            </a:r>
            <a:r>
              <a:rPr lang="en-IN" u="sng" kern="100" dirty="0">
                <a:latin typeface="Calibri" panose="020F0502020204030204" pitchFamily="34" charset="0"/>
                <a:ea typeface="Calibri" panose="020F0502020204030204" pitchFamily="34" charset="0"/>
                <a:cs typeface="Times New Roman" panose="02020603050405020304" pitchFamily="18" charset="0"/>
              </a:rPr>
              <a:t>F</a:t>
            </a:r>
            <a:r>
              <a:rPr lang="en-IN" sz="1800" u="sng" kern="100" dirty="0">
                <a:effectLst/>
                <a:latin typeface="Calibri" panose="020F0502020204030204" pitchFamily="34" charset="0"/>
                <a:ea typeface="Calibri" panose="020F0502020204030204" pitchFamily="34" charset="0"/>
                <a:cs typeface="Times New Roman" panose="02020603050405020304" pitchFamily="18" charset="0"/>
              </a:rPr>
              <a:t>or the year 2013</a:t>
            </a:r>
          </a:p>
          <a:p>
            <a:pPr marL="285750" indent="-285750">
              <a:lnSpc>
                <a:spcPct val="107000"/>
              </a:lnSpc>
              <a:spcAft>
                <a:spcPts val="800"/>
              </a:spcAft>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From January to March 2013, there was a decrease in sales from $0.14 million to $0.10 million, showing negative growth. However, from March to May, sales significantly increased to $0.21 million, more than doubling within this period.</a:t>
            </a:r>
          </a:p>
          <a:p>
            <a:pPr marL="285750" indent="-285750">
              <a:lnSpc>
                <a:spcPct val="107000"/>
              </a:lnSpc>
              <a:spcAft>
                <a:spcPts val="800"/>
              </a:spcAft>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July, there was a slight drop in sales to $0.15 million. From September to November, sales remained steady around $0.30 million, indicating a plateau phase.</a:t>
            </a: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FontTx/>
              <a:buNone/>
            </a:pPr>
            <a:endParaRPr lang="en-IN" sz="1800" dirty="0">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37164841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11</a:t>
            </a:fld>
            <a:endParaRPr lang="en-US" altLang="zh-CN" dirty="0"/>
          </a:p>
        </p:txBody>
      </p:sp>
      <p:sp>
        <p:nvSpPr>
          <p:cNvPr id="19" name="Title 45">
            <a:extLst>
              <a:ext uri="{FF2B5EF4-FFF2-40B4-BE49-F238E27FC236}">
                <a16:creationId xmlns:a16="http://schemas.microsoft.com/office/drawing/2014/main" id="{0AFB86E6-E55F-EB21-0709-984D641159FD}"/>
              </a:ext>
            </a:extLst>
          </p:cNvPr>
          <p:cNvSpPr>
            <a:spLocks noGrp="1"/>
          </p:cNvSpPr>
          <p:nvPr>
            <p:ph type="title"/>
          </p:nvPr>
        </p:nvSpPr>
        <p:spPr>
          <a:xfrm>
            <a:off x="4077476" y="254267"/>
            <a:ext cx="6251511" cy="749707"/>
          </a:xfrm>
        </p:spPr>
        <p:txBody>
          <a:bodyPr/>
          <a:lstStyle/>
          <a:p>
            <a:r>
              <a:rPr lang="en-US" dirty="0"/>
              <a:t>Sales and Profit Trends</a:t>
            </a:r>
          </a:p>
        </p:txBody>
      </p:sp>
      <p:sp>
        <p:nvSpPr>
          <p:cNvPr id="22" name="TextBox 21">
            <a:extLst>
              <a:ext uri="{FF2B5EF4-FFF2-40B4-BE49-F238E27FC236}">
                <a16:creationId xmlns:a16="http://schemas.microsoft.com/office/drawing/2014/main" id="{2D6B94A6-F680-ABA2-0B04-C69FEC15B5DF}"/>
              </a:ext>
            </a:extLst>
          </p:cNvPr>
          <p:cNvSpPr txBox="1"/>
          <p:nvPr/>
        </p:nvSpPr>
        <p:spPr>
          <a:xfrm>
            <a:off x="3367067" y="1462794"/>
            <a:ext cx="8389503" cy="5931880"/>
          </a:xfrm>
          <a:prstGeom prst="rect">
            <a:avLst/>
          </a:prstGeom>
        </p:spPr>
        <p:txBody>
          <a:bodyPr wrap="square" rtlCol="0">
            <a:spAutoFit/>
          </a:bodyPr>
          <a:lstStyle/>
          <a:p>
            <a:pPr>
              <a:lnSpc>
                <a:spcPct val="107000"/>
              </a:lnSpc>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3</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for 2014</a:t>
            </a:r>
          </a:p>
          <a:p>
            <a:pPr marL="342900" lvl="0" indent="-342900">
              <a:lnSpc>
                <a:spcPct val="107000"/>
              </a:lnSpc>
              <a:spcAft>
                <a:spcPts val="800"/>
              </a:spcAft>
              <a:buFont typeface="Wingdings" panose="05000000000000000000" pitchFamily="2" charset="2"/>
              <a:buChar char="Ø"/>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monthly sales go up and down a lot, like a roller coaster. This might be because of  things like seasons or other factors that change over time.</a:t>
            </a:r>
          </a:p>
          <a:p>
            <a:pPr marL="342900" lvl="0" indent="-342900">
              <a:lnSpc>
                <a:spcPct val="107000"/>
              </a:lnSpc>
              <a:spcAft>
                <a:spcPts val="800"/>
              </a:spcAft>
              <a:buFont typeface="Wingdings" panose="05000000000000000000" pitchFamily="2" charset="2"/>
              <a:buChar char="Ø"/>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Sales were really high in July and November, which could be because of special events or holidays.</a:t>
            </a:r>
          </a:p>
          <a:p>
            <a:pPr marL="342900" lvl="0" indent="-342900">
              <a:lnSpc>
                <a:spcPct val="107000"/>
              </a:lnSpc>
              <a:spcAft>
                <a:spcPts val="800"/>
              </a:spcAft>
              <a:buFont typeface="Wingdings" panose="05000000000000000000" pitchFamily="2" charset="2"/>
              <a:buChar char="Ø"/>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Sales dropped a lot in February, possibly because the excitement of the holidays was over, or because the market wasn't doing well.</a:t>
            </a:r>
          </a:p>
          <a:p>
            <a:pPr marL="342900" lvl="0" indent="-342900">
              <a:lnSpc>
                <a:spcPct val="107000"/>
              </a:lnSpc>
              <a:spcAft>
                <a:spcPts val="800"/>
              </a:spcAft>
              <a:buFont typeface="Wingdings" panose="05000000000000000000" pitchFamily="2" charset="2"/>
              <a:buChar char="Ø"/>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From February to July, sales kept going up, more than doubling. This could be because of good marketing or more people buying things.</a:t>
            </a:r>
          </a:p>
          <a:p>
            <a:pPr marL="342900" lvl="0" indent="-342900">
              <a:lnSpc>
                <a:spcPct val="107000"/>
              </a:lnSpc>
              <a:spcAft>
                <a:spcPts val="800"/>
              </a:spcAft>
              <a:buFont typeface="Wingdings" panose="05000000000000000000" pitchFamily="2" charset="2"/>
              <a:buChar char="Ø"/>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Sales went down a little in September but then went back up again. This shows that the business was able to deal with challenges well.</a:t>
            </a:r>
          </a:p>
          <a:p>
            <a:pPr marL="342900" lvl="0" indent="-342900">
              <a:lnSpc>
                <a:spcPct val="107000"/>
              </a:lnSpc>
              <a:spcAft>
                <a:spcPts val="800"/>
              </a:spcAft>
              <a:buFont typeface="Wingdings" panose="05000000000000000000" pitchFamily="2" charset="2"/>
              <a:buChar char="Ø"/>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Sales were really high again in November, maybe because of Black Friday or end-of-year shopping.</a:t>
            </a: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0000"/>
              </a:lnSpc>
              <a:spcBef>
                <a:spcPts val="0"/>
              </a:spcBef>
              <a:buFontTx/>
              <a:buNone/>
            </a:pPr>
            <a:endParaRPr lang="en-IN" sz="1800" dirty="0">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278757353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12</a:t>
            </a:fld>
            <a:endParaRPr lang="en-US" altLang="zh-CN" dirty="0"/>
          </a:p>
        </p:txBody>
      </p:sp>
      <p:sp>
        <p:nvSpPr>
          <p:cNvPr id="19" name="Title 45">
            <a:extLst>
              <a:ext uri="{FF2B5EF4-FFF2-40B4-BE49-F238E27FC236}">
                <a16:creationId xmlns:a16="http://schemas.microsoft.com/office/drawing/2014/main" id="{0AFB86E6-E55F-EB21-0709-984D641159FD}"/>
              </a:ext>
            </a:extLst>
          </p:cNvPr>
          <p:cNvSpPr>
            <a:spLocks noGrp="1"/>
          </p:cNvSpPr>
          <p:nvPr>
            <p:ph type="title"/>
          </p:nvPr>
        </p:nvSpPr>
        <p:spPr>
          <a:xfrm>
            <a:off x="4077476" y="254267"/>
            <a:ext cx="6251511" cy="749707"/>
          </a:xfrm>
        </p:spPr>
        <p:txBody>
          <a:bodyPr/>
          <a:lstStyle/>
          <a:p>
            <a:r>
              <a:rPr lang="en-US" dirty="0"/>
              <a:t>Sales and Profit Trends</a:t>
            </a:r>
          </a:p>
        </p:txBody>
      </p:sp>
      <p:sp>
        <p:nvSpPr>
          <p:cNvPr id="22" name="TextBox 21">
            <a:extLst>
              <a:ext uri="{FF2B5EF4-FFF2-40B4-BE49-F238E27FC236}">
                <a16:creationId xmlns:a16="http://schemas.microsoft.com/office/drawing/2014/main" id="{2D6B94A6-F680-ABA2-0B04-C69FEC15B5DF}"/>
              </a:ext>
            </a:extLst>
          </p:cNvPr>
          <p:cNvSpPr txBox="1"/>
          <p:nvPr/>
        </p:nvSpPr>
        <p:spPr>
          <a:xfrm>
            <a:off x="3451043" y="1537439"/>
            <a:ext cx="8389503" cy="5494196"/>
          </a:xfrm>
          <a:prstGeom prst="rect">
            <a:avLst/>
          </a:prstGeom>
        </p:spPr>
        <p:txBody>
          <a:bodyPr wrap="square" rtlCol="0">
            <a:spAutoFit/>
          </a:bodyPr>
          <a:lstStyle/>
          <a:p>
            <a:pPr>
              <a:lnSpc>
                <a:spcPct val="107000"/>
              </a:lnSpc>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4</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for 2015</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Here’s a simplified statistical analysis of the monthly sales data for 2015:</a:t>
            </a:r>
          </a:p>
          <a:p>
            <a:pPr marL="285750" indent="-285750">
              <a:lnSpc>
                <a:spcPct val="107000"/>
              </a:lnSpc>
              <a:spcAft>
                <a:spcPts val="800"/>
              </a:spcAft>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Sales started at $180,000 in January and gradually increased, showing positive growth for the first quarter.</a:t>
            </a:r>
          </a:p>
          <a:p>
            <a:pPr marL="285750" indent="-285750">
              <a:lnSpc>
                <a:spcPct val="107000"/>
              </a:lnSpc>
              <a:spcAft>
                <a:spcPts val="800"/>
              </a:spcAft>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May saw the highest sales at $290,000, indicating a strong performance halfway through the year, possibly due to promotions or clearing out stock.</a:t>
            </a:r>
          </a:p>
          <a:p>
            <a:pPr marL="285750" indent="-285750">
              <a:lnSpc>
                <a:spcPct val="107000"/>
              </a:lnSpc>
              <a:spcAft>
                <a:spcPts val="800"/>
              </a:spcAft>
              <a:buFont typeface="Wingdings" panose="05000000000000000000" pitchFamily="2" charset="2"/>
              <a:buChar char="Ø"/>
            </a:pPr>
            <a:r>
              <a:rPr lang="en-IN" kern="100" dirty="0">
                <a:latin typeface="Calibri" panose="020F0502020204030204" pitchFamily="34" charset="0"/>
                <a:ea typeface="Calibri" panose="020F0502020204030204" pitchFamily="34" charset="0"/>
                <a:cs typeface="Times New Roman" panose="02020603050405020304" pitchFamily="18" charset="0"/>
              </a:rPr>
              <a:t>I</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n  July, Sales dropped sharply to $240,000, possibly due to market corrections or seasonal slumps.</a:t>
            </a:r>
          </a:p>
          <a:p>
            <a:pPr marL="285750" indent="-285750">
              <a:lnSpc>
                <a:spcPct val="107000"/>
              </a:lnSpc>
              <a:spcAft>
                <a:spcPts val="800"/>
              </a:spcAft>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After July, sales started recovering and continued to rise steadily, suggesting market resilience and effective sales strategies.</a:t>
            </a:r>
          </a:p>
          <a:p>
            <a:pPr marL="285750" indent="-285750">
              <a:buFont typeface="Wingdings" panose="05000000000000000000" pitchFamily="2" charset="2"/>
              <a:buChar char="Ø"/>
            </a:pPr>
            <a:r>
              <a:rPr lang="en-IN" sz="1800" dirty="0">
                <a:effectLst/>
                <a:latin typeface="Calibri" panose="020F0502020204030204" pitchFamily="34" charset="0"/>
                <a:ea typeface="Calibri" panose="020F0502020204030204" pitchFamily="34" charset="0"/>
                <a:cs typeface="Times New Roman" panose="02020603050405020304" pitchFamily="18" charset="0"/>
              </a:rPr>
              <a:t>&amp; at the Year-End November recorded the highest sales at $560,000, likely due to holiday season effects or year-end sales pushes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0000"/>
              </a:lnSpc>
              <a:spcBef>
                <a:spcPts val="0"/>
              </a:spcBef>
              <a:buFontTx/>
              <a:buNone/>
            </a:pPr>
            <a:endParaRPr lang="en-IN" sz="1800" dirty="0">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390301346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1C7500-E032-DBB5-A780-8247E3B7367B}"/>
              </a:ext>
            </a:extLst>
          </p:cNvPr>
          <p:cNvSpPr>
            <a:spLocks noGrp="1"/>
          </p:cNvSpPr>
          <p:nvPr>
            <p:ph type="sldNum" sz="quarter" idx="31"/>
          </p:nvPr>
        </p:nvSpPr>
        <p:spPr>
          <a:xfrm>
            <a:off x="11679342" y="6507176"/>
            <a:ext cx="458592" cy="365125"/>
          </a:xfrm>
        </p:spPr>
        <p:txBody>
          <a:bodyPr/>
          <a:lstStyle/>
          <a:p>
            <a:fld id="{47FEACEE-25B4-4A2D-B147-27296E36371D}" type="slidenum">
              <a:rPr lang="en-US" altLang="zh-CN" noProof="0" smtClean="0"/>
              <a:pPr/>
              <a:t>13</a:t>
            </a:fld>
            <a:endParaRPr lang="en-US" altLang="zh-CN" noProof="0" dirty="0"/>
          </a:p>
        </p:txBody>
      </p:sp>
      <p:pic>
        <p:nvPicPr>
          <p:cNvPr id="2" name="Picture 1">
            <a:extLst>
              <a:ext uri="{FF2B5EF4-FFF2-40B4-BE49-F238E27FC236}">
                <a16:creationId xmlns:a16="http://schemas.microsoft.com/office/drawing/2014/main" id="{195B155B-E14E-76FC-169D-3721ED0FE7A4}"/>
              </a:ext>
            </a:extLst>
          </p:cNvPr>
          <p:cNvPicPr>
            <a:picLocks noChangeAspect="1"/>
          </p:cNvPicPr>
          <p:nvPr/>
        </p:nvPicPr>
        <p:blipFill>
          <a:blip r:embed="rId3"/>
          <a:stretch>
            <a:fillRect/>
          </a:stretch>
        </p:blipFill>
        <p:spPr>
          <a:xfrm>
            <a:off x="-8504" y="6254148"/>
            <a:ext cx="1811560" cy="612109"/>
          </a:xfrm>
          <a:prstGeom prst="rect">
            <a:avLst/>
          </a:prstGeom>
        </p:spPr>
      </p:pic>
      <p:cxnSp>
        <p:nvCxnSpPr>
          <p:cNvPr id="9" name="Straight Connector 8">
            <a:extLst>
              <a:ext uri="{FF2B5EF4-FFF2-40B4-BE49-F238E27FC236}">
                <a16:creationId xmlns:a16="http://schemas.microsoft.com/office/drawing/2014/main" id="{EC2531E5-13E8-2B5A-7F17-58C19CDE9326}"/>
              </a:ext>
            </a:extLst>
          </p:cNvPr>
          <p:cNvCxnSpPr>
            <a:cxnSpLocks/>
          </p:cNvCxnSpPr>
          <p:nvPr/>
        </p:nvCxnSpPr>
        <p:spPr>
          <a:xfrm>
            <a:off x="7958997" y="1828810"/>
            <a:ext cx="7760" cy="38566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4AEBB48-EDFA-3D79-9E0F-BD77B03A99F7}"/>
              </a:ext>
            </a:extLst>
          </p:cNvPr>
          <p:cNvCxnSpPr/>
          <p:nvPr/>
        </p:nvCxnSpPr>
        <p:spPr>
          <a:xfrm>
            <a:off x="7072589" y="1828810"/>
            <a:ext cx="8864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B71286-5D17-4AEB-EC03-D66CB229460B}"/>
              </a:ext>
            </a:extLst>
          </p:cNvPr>
          <p:cNvCxnSpPr/>
          <p:nvPr/>
        </p:nvCxnSpPr>
        <p:spPr>
          <a:xfrm>
            <a:off x="7958997" y="2534823"/>
            <a:ext cx="8864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5F1E12-A171-5F47-9E1C-2714A6E29154}"/>
              </a:ext>
            </a:extLst>
          </p:cNvPr>
          <p:cNvCxnSpPr/>
          <p:nvPr/>
        </p:nvCxnSpPr>
        <p:spPr>
          <a:xfrm>
            <a:off x="7072589" y="3355910"/>
            <a:ext cx="8864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E6F3C38-A7A9-9286-CBFF-A80B9EAEEBE0}"/>
              </a:ext>
            </a:extLst>
          </p:cNvPr>
          <p:cNvCxnSpPr/>
          <p:nvPr/>
        </p:nvCxnSpPr>
        <p:spPr>
          <a:xfrm>
            <a:off x="7958997" y="4105464"/>
            <a:ext cx="8864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EFD076-D024-CA88-57E8-DE5FB85214BE}"/>
              </a:ext>
            </a:extLst>
          </p:cNvPr>
          <p:cNvCxnSpPr/>
          <p:nvPr/>
        </p:nvCxnSpPr>
        <p:spPr>
          <a:xfrm>
            <a:off x="7966757" y="5685449"/>
            <a:ext cx="8864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44F8426-9834-AC75-C4A3-A79959A23875}"/>
              </a:ext>
            </a:extLst>
          </p:cNvPr>
          <p:cNvCxnSpPr/>
          <p:nvPr/>
        </p:nvCxnSpPr>
        <p:spPr>
          <a:xfrm>
            <a:off x="7080349" y="4970104"/>
            <a:ext cx="886408"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AE9B889-15AD-F51A-9A19-41888C0805AA}"/>
              </a:ext>
            </a:extLst>
          </p:cNvPr>
          <p:cNvSpPr/>
          <p:nvPr/>
        </p:nvSpPr>
        <p:spPr>
          <a:xfrm>
            <a:off x="6931060" y="1757295"/>
            <a:ext cx="149289" cy="158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319B7C9B-04BA-A443-6B0D-FA4EC70E0B40}"/>
              </a:ext>
            </a:extLst>
          </p:cNvPr>
          <p:cNvSpPr/>
          <p:nvPr/>
        </p:nvSpPr>
        <p:spPr>
          <a:xfrm>
            <a:off x="8859417" y="5589805"/>
            <a:ext cx="149289" cy="158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A150F872-1D5E-8A83-2FCC-E5080465F9E8}"/>
              </a:ext>
            </a:extLst>
          </p:cNvPr>
          <p:cNvSpPr/>
          <p:nvPr/>
        </p:nvSpPr>
        <p:spPr>
          <a:xfrm>
            <a:off x="8853165" y="4019165"/>
            <a:ext cx="149289" cy="158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0614E258-99EB-6464-F3AA-BAFADE2F52AF}"/>
              </a:ext>
            </a:extLst>
          </p:cNvPr>
          <p:cNvSpPr/>
          <p:nvPr/>
        </p:nvSpPr>
        <p:spPr>
          <a:xfrm>
            <a:off x="6931060" y="4895449"/>
            <a:ext cx="149289" cy="158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BB35605B-7116-B16A-D5C4-60321C70FFFB}"/>
              </a:ext>
            </a:extLst>
          </p:cNvPr>
          <p:cNvSpPr/>
          <p:nvPr/>
        </p:nvSpPr>
        <p:spPr>
          <a:xfrm>
            <a:off x="8853165" y="2455514"/>
            <a:ext cx="149289" cy="158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AC6666DE-968D-437C-9853-50BA27066DCD}"/>
              </a:ext>
            </a:extLst>
          </p:cNvPr>
          <p:cNvSpPr/>
          <p:nvPr/>
        </p:nvSpPr>
        <p:spPr>
          <a:xfrm>
            <a:off x="6923299" y="3278171"/>
            <a:ext cx="149289" cy="158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2039593C-D36C-24C8-38A0-71FE6DD18FFF}"/>
              </a:ext>
            </a:extLst>
          </p:cNvPr>
          <p:cNvSpPr txBox="1"/>
          <p:nvPr/>
        </p:nvSpPr>
        <p:spPr>
          <a:xfrm>
            <a:off x="9097558" y="5492149"/>
            <a:ext cx="2279085" cy="338554"/>
          </a:xfrm>
          <a:prstGeom prst="rect">
            <a:avLst/>
          </a:prstGeom>
        </p:spPr>
        <p:txBody>
          <a:bodyPr wrap="none" rtlCol="0">
            <a:spAutoFit/>
          </a:bodyPr>
          <a:lstStyle/>
          <a:p>
            <a:pPr algn="ctr"/>
            <a:r>
              <a:rPr lang="en-IN" sz="1600" b="1" dirty="0">
                <a:latin typeface="Calibri" panose="020F0502020204030204" pitchFamily="34" charset="0"/>
                <a:ea typeface="Calibri" panose="020F0502020204030204" pitchFamily="34" charset="0"/>
                <a:cs typeface="Calibri" panose="020F0502020204030204" pitchFamily="34" charset="0"/>
              </a:rPr>
              <a:t>Effective Sales Strategies</a:t>
            </a:r>
            <a:endParaRPr lang="en-IN" sz="1600" b="1" dirty="0">
              <a:solidFill>
                <a:prstClr val="white"/>
              </a:solidFill>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FED6D618-C716-62C8-1817-244D704D3C73}"/>
              </a:ext>
            </a:extLst>
          </p:cNvPr>
          <p:cNvSpPr txBox="1"/>
          <p:nvPr/>
        </p:nvSpPr>
        <p:spPr>
          <a:xfrm>
            <a:off x="4637374" y="3180267"/>
            <a:ext cx="2277482" cy="338554"/>
          </a:xfrm>
          <a:prstGeom prst="rect">
            <a:avLst/>
          </a:prstGeom>
        </p:spPr>
        <p:txBody>
          <a:bodyPr wrap="none" rtlCol="0">
            <a:spAutoFit/>
          </a:bodyPr>
          <a:lstStyle/>
          <a:p>
            <a:pPr algn="ctr"/>
            <a:r>
              <a:rPr lang="en-IN" sz="1600" b="1" dirty="0">
                <a:latin typeface="Calibri" panose="020F0502020204030204" pitchFamily="34" charset="0"/>
                <a:ea typeface="Calibri" panose="020F0502020204030204" pitchFamily="34" charset="0"/>
                <a:cs typeface="Calibri" panose="020F0502020204030204" pitchFamily="34" charset="0"/>
              </a:rPr>
              <a:t>Profit Margin Challenges</a:t>
            </a:r>
            <a:endParaRPr lang="en-IN" sz="1600" b="1" dirty="0">
              <a:solidFill>
                <a:prstClr val="white"/>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2AA69076-CA0C-2A1F-E9B4-8DD3AB79E30F}"/>
              </a:ext>
            </a:extLst>
          </p:cNvPr>
          <p:cNvSpPr txBox="1"/>
          <p:nvPr/>
        </p:nvSpPr>
        <p:spPr>
          <a:xfrm>
            <a:off x="5195657" y="4816125"/>
            <a:ext cx="1683474" cy="338554"/>
          </a:xfrm>
          <a:prstGeom prst="rect">
            <a:avLst/>
          </a:prstGeom>
        </p:spPr>
        <p:txBody>
          <a:bodyPr wrap="none" rtlCol="0">
            <a:spAutoFit/>
          </a:bodyPr>
          <a:lstStyle/>
          <a:p>
            <a:pPr algn="ctr"/>
            <a:r>
              <a:rPr lang="en-IN" sz="1600" b="1" dirty="0">
                <a:latin typeface="Calibri" panose="020F0502020204030204" pitchFamily="34" charset="0"/>
                <a:ea typeface="Calibri" panose="020F0502020204030204" pitchFamily="34" charset="0"/>
                <a:cs typeface="Calibri" panose="020F0502020204030204" pitchFamily="34" charset="0"/>
              </a:rPr>
              <a:t>Market Resilience</a:t>
            </a:r>
            <a:endParaRPr lang="en-IN" sz="1600" b="1" dirty="0">
              <a:solidFill>
                <a:prstClr val="white"/>
              </a:solidFill>
              <a:latin typeface="Calibri" panose="020F0502020204030204" pitchFamily="34" charset="0"/>
              <a:ea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604D35F1-DB78-0A5F-6F49-15402BAA4718}"/>
              </a:ext>
            </a:extLst>
          </p:cNvPr>
          <p:cNvSpPr txBox="1"/>
          <p:nvPr/>
        </p:nvSpPr>
        <p:spPr>
          <a:xfrm>
            <a:off x="9094057" y="2357980"/>
            <a:ext cx="1614288" cy="338554"/>
          </a:xfrm>
          <a:prstGeom prst="rect">
            <a:avLst/>
          </a:prstGeom>
        </p:spPr>
        <p:txBody>
          <a:bodyPr wrap="none" rtlCol="0">
            <a:spAutoFit/>
          </a:bodyPr>
          <a:lstStyle/>
          <a:p>
            <a:pPr algn="ctr"/>
            <a:r>
              <a:rPr lang="en-IN" sz="1600" b="1" dirty="0">
                <a:latin typeface="Calibri" panose="020F0502020204030204" pitchFamily="34" charset="0"/>
                <a:ea typeface="Calibri" panose="020F0502020204030204" pitchFamily="34" charset="0"/>
                <a:cs typeface="Calibri" panose="020F0502020204030204" pitchFamily="34" charset="0"/>
              </a:rPr>
              <a:t>Revenue Growth</a:t>
            </a:r>
          </a:p>
        </p:txBody>
      </p:sp>
      <p:sp>
        <p:nvSpPr>
          <p:cNvPr id="32" name="TextBox 31">
            <a:extLst>
              <a:ext uri="{FF2B5EF4-FFF2-40B4-BE49-F238E27FC236}">
                <a16:creationId xmlns:a16="http://schemas.microsoft.com/office/drawing/2014/main" id="{F6AF7F72-EE54-6F6A-89DA-5CD84E3C562C}"/>
              </a:ext>
            </a:extLst>
          </p:cNvPr>
          <p:cNvSpPr txBox="1"/>
          <p:nvPr/>
        </p:nvSpPr>
        <p:spPr>
          <a:xfrm>
            <a:off x="9097135" y="3939061"/>
            <a:ext cx="1587293" cy="338554"/>
          </a:xfrm>
          <a:prstGeom prst="rect">
            <a:avLst/>
          </a:prstGeom>
        </p:spPr>
        <p:txBody>
          <a:bodyPr wrap="none" rtlCol="0">
            <a:spAutoFit/>
          </a:bodyPr>
          <a:lstStyle/>
          <a:p>
            <a:pPr algn="ctr"/>
            <a:r>
              <a:rPr lang="en-IN" sz="1600" b="1" dirty="0">
                <a:latin typeface="Calibri" panose="020F0502020204030204" pitchFamily="34" charset="0"/>
                <a:ea typeface="Calibri" panose="020F0502020204030204" pitchFamily="34" charset="0"/>
                <a:cs typeface="Calibri" panose="020F0502020204030204" pitchFamily="34" charset="0"/>
              </a:rPr>
              <a:t>Seasonal Trends</a:t>
            </a:r>
            <a:endParaRPr lang="en-IN" sz="1600" b="1" dirty="0">
              <a:solidFill>
                <a:prstClr val="white"/>
              </a:solidFill>
              <a:latin typeface="Calibri" panose="020F0502020204030204" pitchFamily="34" charset="0"/>
              <a:ea typeface="Calibri" panose="020F0502020204030204" pitchFamily="34" charset="0"/>
              <a:cs typeface="Calibri" panose="020F0502020204030204" pitchFamily="34" charset="0"/>
            </a:endParaRPr>
          </a:p>
        </p:txBody>
      </p:sp>
      <p:pic>
        <p:nvPicPr>
          <p:cNvPr id="37" name="Picture 36">
            <a:extLst>
              <a:ext uri="{FF2B5EF4-FFF2-40B4-BE49-F238E27FC236}">
                <a16:creationId xmlns:a16="http://schemas.microsoft.com/office/drawing/2014/main" id="{07020AA7-9A37-B586-955E-7A217E03C8F4}"/>
              </a:ext>
            </a:extLst>
          </p:cNvPr>
          <p:cNvPicPr>
            <a:picLocks noChangeAspect="1"/>
          </p:cNvPicPr>
          <p:nvPr/>
        </p:nvPicPr>
        <p:blipFill>
          <a:blip r:embed="rId4"/>
          <a:stretch>
            <a:fillRect/>
          </a:stretch>
        </p:blipFill>
        <p:spPr>
          <a:xfrm rot="522830">
            <a:off x="3806986" y="611641"/>
            <a:ext cx="1386960" cy="1506408"/>
          </a:xfrm>
          <a:prstGeom prst="rect">
            <a:avLst/>
          </a:prstGeom>
        </p:spPr>
      </p:pic>
      <p:sp>
        <p:nvSpPr>
          <p:cNvPr id="6" name="Title 5">
            <a:extLst>
              <a:ext uri="{FF2B5EF4-FFF2-40B4-BE49-F238E27FC236}">
                <a16:creationId xmlns:a16="http://schemas.microsoft.com/office/drawing/2014/main" id="{613663CA-BA5A-41E7-1FBE-D38846DFEF75}"/>
              </a:ext>
            </a:extLst>
          </p:cNvPr>
          <p:cNvSpPr>
            <a:spLocks noGrp="1"/>
          </p:cNvSpPr>
          <p:nvPr>
            <p:ph type="title"/>
          </p:nvPr>
        </p:nvSpPr>
        <p:spPr>
          <a:xfrm>
            <a:off x="1200247" y="280057"/>
            <a:ext cx="3268856" cy="754048"/>
          </a:xfrm>
        </p:spPr>
        <p:txBody>
          <a:bodyPr/>
          <a:lstStyle/>
          <a:p>
            <a:r>
              <a:rPr lang="en-US" sz="4000" dirty="0"/>
              <a:t>Insights</a:t>
            </a:r>
          </a:p>
        </p:txBody>
      </p:sp>
      <p:sp>
        <p:nvSpPr>
          <p:cNvPr id="26" name="TextBox 25">
            <a:extLst>
              <a:ext uri="{FF2B5EF4-FFF2-40B4-BE49-F238E27FC236}">
                <a16:creationId xmlns:a16="http://schemas.microsoft.com/office/drawing/2014/main" id="{D2894372-1D5C-51DC-D7F2-C1FDD5B02270}"/>
              </a:ext>
            </a:extLst>
          </p:cNvPr>
          <p:cNvSpPr txBox="1"/>
          <p:nvPr/>
        </p:nvSpPr>
        <p:spPr>
          <a:xfrm>
            <a:off x="4733745" y="1664095"/>
            <a:ext cx="2159437" cy="338554"/>
          </a:xfrm>
          <a:prstGeom prst="rect">
            <a:avLst/>
          </a:prstGeom>
        </p:spPr>
        <p:txBody>
          <a:bodyPr wrap="none" rtlCol="0">
            <a:spAutoFit/>
          </a:bodyPr>
          <a:lstStyle/>
          <a:p>
            <a:pPr algn="ctr"/>
            <a:r>
              <a:rPr lang="en-IN" sz="1600" b="1" dirty="0">
                <a:latin typeface="Calibri" panose="020F0502020204030204" pitchFamily="34" charset="0"/>
                <a:ea typeface="Calibri" panose="020F0502020204030204" pitchFamily="34" charset="0"/>
                <a:cs typeface="Calibri" panose="020F0502020204030204" pitchFamily="34" charset="0"/>
              </a:rPr>
              <a:t>Technology Dominance</a:t>
            </a:r>
            <a:endParaRPr lang="en-IN" sz="1600" b="1" dirty="0">
              <a:solidFill>
                <a:prstClr val="white"/>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675373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fill="hold"/>
                                        <p:tgtEl>
                                          <p:spTgt spid="28"/>
                                        </p:tgtEl>
                                        <p:attrNameLst>
                                          <p:attrName>ppt_x</p:attrName>
                                        </p:attrNameLst>
                                      </p:cBhvr>
                                      <p:tavLst>
                                        <p:tav tm="0">
                                          <p:val>
                                            <p:strVal val="#ppt_x"/>
                                          </p:val>
                                        </p:tav>
                                        <p:tav tm="100000">
                                          <p:val>
                                            <p:strVal val="#ppt_x"/>
                                          </p:val>
                                        </p:tav>
                                      </p:tavLst>
                                    </p:anim>
                                    <p:anim calcmode="lin" valueType="num">
                                      <p:cBhvr additive="base">
                                        <p:cTn id="18" dur="500" fill="hold"/>
                                        <p:tgtEl>
                                          <p:spTgt spid="28"/>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additive="base">
                                        <p:cTn id="22" dur="500" fill="hold"/>
                                        <p:tgtEl>
                                          <p:spTgt spid="32"/>
                                        </p:tgtEl>
                                        <p:attrNameLst>
                                          <p:attrName>ppt_x</p:attrName>
                                        </p:attrNameLst>
                                      </p:cBhvr>
                                      <p:tavLst>
                                        <p:tav tm="0">
                                          <p:val>
                                            <p:strVal val="#ppt_x"/>
                                          </p:val>
                                        </p:tav>
                                        <p:tav tm="100000">
                                          <p:val>
                                            <p:strVal val="#ppt_x"/>
                                          </p:val>
                                        </p:tav>
                                      </p:tavLst>
                                    </p:anim>
                                    <p:anim calcmode="lin" valueType="num">
                                      <p:cBhvr additive="base">
                                        <p:cTn id="23" dur="500" fill="hold"/>
                                        <p:tgtEl>
                                          <p:spTgt spid="32"/>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ppt_x"/>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fill="hold"/>
                                        <p:tgtEl>
                                          <p:spTgt spid="27"/>
                                        </p:tgtEl>
                                        <p:attrNameLst>
                                          <p:attrName>ppt_x</p:attrName>
                                        </p:attrNameLst>
                                      </p:cBhvr>
                                      <p:tavLst>
                                        <p:tav tm="0">
                                          <p:val>
                                            <p:strVal val="#ppt_x"/>
                                          </p:val>
                                        </p:tav>
                                        <p:tav tm="100000">
                                          <p:val>
                                            <p:strVal val="#ppt_x"/>
                                          </p:val>
                                        </p:tav>
                                      </p:tavLst>
                                    </p:anim>
                                    <p:anim calcmode="lin" valueType="num">
                                      <p:cBhvr additive="base">
                                        <p:cTn id="33"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1" grpId="0"/>
      <p:bldP spid="32"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14</a:t>
            </a:fld>
            <a:endParaRPr lang="en-US" altLang="zh-CN" dirty="0"/>
          </a:p>
        </p:txBody>
      </p:sp>
      <p:sp>
        <p:nvSpPr>
          <p:cNvPr id="19" name="Title 45">
            <a:extLst>
              <a:ext uri="{FF2B5EF4-FFF2-40B4-BE49-F238E27FC236}">
                <a16:creationId xmlns:a16="http://schemas.microsoft.com/office/drawing/2014/main" id="{0AFB86E6-E55F-EB21-0709-984D641159FD}"/>
              </a:ext>
            </a:extLst>
          </p:cNvPr>
          <p:cNvSpPr>
            <a:spLocks noGrp="1"/>
          </p:cNvSpPr>
          <p:nvPr>
            <p:ph type="title"/>
          </p:nvPr>
        </p:nvSpPr>
        <p:spPr>
          <a:xfrm>
            <a:off x="4077476" y="254267"/>
            <a:ext cx="6251511" cy="749707"/>
          </a:xfrm>
        </p:spPr>
        <p:txBody>
          <a:bodyPr/>
          <a:lstStyle/>
          <a:p>
            <a:pPr algn="ctr"/>
            <a:r>
              <a:rPr lang="en-IN" sz="44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Insights</a:t>
            </a:r>
            <a:br>
              <a:rPr lang="en-IN"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22" name="TextBox 21">
            <a:extLst>
              <a:ext uri="{FF2B5EF4-FFF2-40B4-BE49-F238E27FC236}">
                <a16:creationId xmlns:a16="http://schemas.microsoft.com/office/drawing/2014/main" id="{2D6B94A6-F680-ABA2-0B04-C69FEC15B5DF}"/>
              </a:ext>
            </a:extLst>
          </p:cNvPr>
          <p:cNvSpPr txBox="1"/>
          <p:nvPr/>
        </p:nvSpPr>
        <p:spPr>
          <a:xfrm>
            <a:off x="3395059" y="1109537"/>
            <a:ext cx="8389503" cy="5436553"/>
          </a:xfrm>
          <a:prstGeom prst="rect">
            <a:avLst/>
          </a:prstGeom>
        </p:spPr>
        <p:txBody>
          <a:bodyPr wrap="square" rtlCol="0">
            <a:sp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Based on the provided data spanning from 2012 to 2015, here are the insights:</a:t>
            </a:r>
          </a:p>
          <a:p>
            <a:pPr>
              <a:lnSpc>
                <a:spcPct val="107000"/>
              </a:lnSpc>
              <a:spcAft>
                <a:spcPts val="800"/>
              </a:spcAft>
            </a:pPr>
            <a:r>
              <a:rPr lang="en-IN" sz="1800" u="sng"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Technology Dominance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Across all years, the Technology category consistently emerged as the market leader, surpassing Office Supplies &amp; furniture in sales. Its dominance was particularly notable in 2014 and 2015, where Technology sales significantly outpaced other categories.</a:t>
            </a: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Revenue Growth</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Over the four-year period, there was a consistent trend of increasing total sales, indicative of overall market growth and potentially effective marketing strategies or product innovations driving consumer demand.</a:t>
            </a: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Profit Margin Challenges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Despite impressive sales figures, the Technology sector consistently faced challenges in converting sales into profit, as evidenced by the substantial gaps between total sales and total profit. This suggests higher operational costs, possibly due to investments in technological advancements, market expansion efforts, or competitive pricing strategies.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322793419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15</a:t>
            </a:fld>
            <a:endParaRPr lang="en-US" altLang="zh-CN" dirty="0"/>
          </a:p>
        </p:txBody>
      </p:sp>
      <p:sp>
        <p:nvSpPr>
          <p:cNvPr id="19" name="Title 45">
            <a:extLst>
              <a:ext uri="{FF2B5EF4-FFF2-40B4-BE49-F238E27FC236}">
                <a16:creationId xmlns:a16="http://schemas.microsoft.com/office/drawing/2014/main" id="{0AFB86E6-E55F-EB21-0709-984D641159FD}"/>
              </a:ext>
            </a:extLst>
          </p:cNvPr>
          <p:cNvSpPr>
            <a:spLocks noGrp="1"/>
          </p:cNvSpPr>
          <p:nvPr>
            <p:ph type="title"/>
          </p:nvPr>
        </p:nvSpPr>
        <p:spPr>
          <a:xfrm>
            <a:off x="4077476" y="254267"/>
            <a:ext cx="6251511" cy="749707"/>
          </a:xfrm>
        </p:spPr>
        <p:txBody>
          <a:bodyPr/>
          <a:lstStyle/>
          <a:p>
            <a:pPr algn="ctr"/>
            <a:r>
              <a:rPr lang="en-IN" sz="44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Insights</a:t>
            </a:r>
            <a:br>
              <a:rPr lang="en-IN"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22" name="TextBox 21">
            <a:extLst>
              <a:ext uri="{FF2B5EF4-FFF2-40B4-BE49-F238E27FC236}">
                <a16:creationId xmlns:a16="http://schemas.microsoft.com/office/drawing/2014/main" id="{2D6B94A6-F680-ABA2-0B04-C69FEC15B5DF}"/>
              </a:ext>
            </a:extLst>
          </p:cNvPr>
          <p:cNvSpPr txBox="1"/>
          <p:nvPr/>
        </p:nvSpPr>
        <p:spPr>
          <a:xfrm>
            <a:off x="3395059" y="1109537"/>
            <a:ext cx="8389503" cy="5732916"/>
          </a:xfrm>
          <a:prstGeom prst="rect">
            <a:avLst/>
          </a:prstGeom>
        </p:spPr>
        <p:txBody>
          <a:bodyPr wrap="square" rtlCol="0">
            <a:sp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Seasonal Trends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Each year exhibited seasonal fluctuations in sales, with certain months experiencing peaks or troughs. For instance, sales tended to rise during holiday seasons or promotional events like Black Friday, while experiencing drops during off-peak periods or market corrections.</a:t>
            </a: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Market Resilience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Despite fluctuations, there were instances of market resilience, as seen in the ability of sales to rebound after temporary declines, indicating adaptability and effective management strategies to navigate challenges.</a:t>
            </a: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Effective Sales Strategies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Towards the end of each year, there was a notable uptick in sales, possibly driven by year-end promotions, holiday season effects, or strategic sales pushes. This suggests the effectiveness of targeted sales strategies in capitalizing on consumer behaviour and maximizing revenue opportunities.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Overall, the data underscores the importance of continuous market analysis, strategic planning, and adaptability to maintain competitiveness and profitability in a dynamic business environment.</a:t>
            </a: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3492586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1C7500-E032-DBB5-A780-8247E3B7367B}"/>
              </a:ext>
            </a:extLst>
          </p:cNvPr>
          <p:cNvSpPr>
            <a:spLocks noGrp="1"/>
          </p:cNvSpPr>
          <p:nvPr>
            <p:ph type="sldNum" sz="quarter" idx="31"/>
          </p:nvPr>
        </p:nvSpPr>
        <p:spPr>
          <a:xfrm>
            <a:off x="11679342" y="6507176"/>
            <a:ext cx="458592" cy="365125"/>
          </a:xfrm>
        </p:spPr>
        <p:txBody>
          <a:bodyPr/>
          <a:lstStyle/>
          <a:p>
            <a:fld id="{47FEACEE-25B4-4A2D-B147-27296E36371D}" type="slidenum">
              <a:rPr lang="en-US" altLang="zh-CN" noProof="0" smtClean="0"/>
              <a:pPr/>
              <a:t>16</a:t>
            </a:fld>
            <a:endParaRPr lang="en-US" altLang="zh-CN" noProof="0" dirty="0"/>
          </a:p>
        </p:txBody>
      </p:sp>
      <p:pic>
        <p:nvPicPr>
          <p:cNvPr id="2" name="Picture 1">
            <a:extLst>
              <a:ext uri="{FF2B5EF4-FFF2-40B4-BE49-F238E27FC236}">
                <a16:creationId xmlns:a16="http://schemas.microsoft.com/office/drawing/2014/main" id="{195B155B-E14E-76FC-169D-3721ED0FE7A4}"/>
              </a:ext>
            </a:extLst>
          </p:cNvPr>
          <p:cNvPicPr>
            <a:picLocks noChangeAspect="1"/>
          </p:cNvPicPr>
          <p:nvPr/>
        </p:nvPicPr>
        <p:blipFill>
          <a:blip r:embed="rId3"/>
          <a:stretch>
            <a:fillRect/>
          </a:stretch>
        </p:blipFill>
        <p:spPr>
          <a:xfrm>
            <a:off x="-8504" y="6254148"/>
            <a:ext cx="1811560" cy="612109"/>
          </a:xfrm>
          <a:prstGeom prst="rect">
            <a:avLst/>
          </a:prstGeom>
        </p:spPr>
      </p:pic>
      <p:cxnSp>
        <p:nvCxnSpPr>
          <p:cNvPr id="9" name="Straight Connector 8">
            <a:extLst>
              <a:ext uri="{FF2B5EF4-FFF2-40B4-BE49-F238E27FC236}">
                <a16:creationId xmlns:a16="http://schemas.microsoft.com/office/drawing/2014/main" id="{EC2531E5-13E8-2B5A-7F17-58C19CDE9326}"/>
              </a:ext>
            </a:extLst>
          </p:cNvPr>
          <p:cNvCxnSpPr>
            <a:cxnSpLocks/>
          </p:cNvCxnSpPr>
          <p:nvPr/>
        </p:nvCxnSpPr>
        <p:spPr>
          <a:xfrm>
            <a:off x="7958997" y="1828810"/>
            <a:ext cx="7760" cy="38566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4AEBB48-EDFA-3D79-9E0F-BD77B03A99F7}"/>
              </a:ext>
            </a:extLst>
          </p:cNvPr>
          <p:cNvCxnSpPr/>
          <p:nvPr/>
        </p:nvCxnSpPr>
        <p:spPr>
          <a:xfrm>
            <a:off x="7072589" y="1828810"/>
            <a:ext cx="8864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B71286-5D17-4AEB-EC03-D66CB229460B}"/>
              </a:ext>
            </a:extLst>
          </p:cNvPr>
          <p:cNvCxnSpPr/>
          <p:nvPr/>
        </p:nvCxnSpPr>
        <p:spPr>
          <a:xfrm>
            <a:off x="7958997" y="2534823"/>
            <a:ext cx="8864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5F1E12-A171-5F47-9E1C-2714A6E29154}"/>
              </a:ext>
            </a:extLst>
          </p:cNvPr>
          <p:cNvCxnSpPr/>
          <p:nvPr/>
        </p:nvCxnSpPr>
        <p:spPr>
          <a:xfrm>
            <a:off x="7072589" y="3355910"/>
            <a:ext cx="8864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E6F3C38-A7A9-9286-CBFF-A80B9EAEEBE0}"/>
              </a:ext>
            </a:extLst>
          </p:cNvPr>
          <p:cNvCxnSpPr/>
          <p:nvPr/>
        </p:nvCxnSpPr>
        <p:spPr>
          <a:xfrm>
            <a:off x="7958997" y="4105464"/>
            <a:ext cx="8864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EFD076-D024-CA88-57E8-DE5FB85214BE}"/>
              </a:ext>
            </a:extLst>
          </p:cNvPr>
          <p:cNvCxnSpPr/>
          <p:nvPr/>
        </p:nvCxnSpPr>
        <p:spPr>
          <a:xfrm>
            <a:off x="7966757" y="5685449"/>
            <a:ext cx="8864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44F8426-9834-AC75-C4A3-A79959A23875}"/>
              </a:ext>
            </a:extLst>
          </p:cNvPr>
          <p:cNvCxnSpPr/>
          <p:nvPr/>
        </p:nvCxnSpPr>
        <p:spPr>
          <a:xfrm>
            <a:off x="7080349" y="4970104"/>
            <a:ext cx="886408"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AE9B889-15AD-F51A-9A19-41888C0805AA}"/>
              </a:ext>
            </a:extLst>
          </p:cNvPr>
          <p:cNvSpPr/>
          <p:nvPr/>
        </p:nvSpPr>
        <p:spPr>
          <a:xfrm>
            <a:off x="6931060" y="1757295"/>
            <a:ext cx="149289" cy="158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319B7C9B-04BA-A443-6B0D-FA4EC70E0B40}"/>
              </a:ext>
            </a:extLst>
          </p:cNvPr>
          <p:cNvSpPr/>
          <p:nvPr/>
        </p:nvSpPr>
        <p:spPr>
          <a:xfrm>
            <a:off x="8859417" y="5589805"/>
            <a:ext cx="149289" cy="158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A150F872-1D5E-8A83-2FCC-E5080465F9E8}"/>
              </a:ext>
            </a:extLst>
          </p:cNvPr>
          <p:cNvSpPr/>
          <p:nvPr/>
        </p:nvSpPr>
        <p:spPr>
          <a:xfrm>
            <a:off x="8853165" y="4019165"/>
            <a:ext cx="149289" cy="158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0614E258-99EB-6464-F3AA-BAFADE2F52AF}"/>
              </a:ext>
            </a:extLst>
          </p:cNvPr>
          <p:cNvSpPr/>
          <p:nvPr/>
        </p:nvSpPr>
        <p:spPr>
          <a:xfrm>
            <a:off x="6931060" y="4895449"/>
            <a:ext cx="149289" cy="158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BB35605B-7116-B16A-D5C4-60321C70FFFB}"/>
              </a:ext>
            </a:extLst>
          </p:cNvPr>
          <p:cNvSpPr/>
          <p:nvPr/>
        </p:nvSpPr>
        <p:spPr>
          <a:xfrm>
            <a:off x="8853165" y="2455514"/>
            <a:ext cx="149289" cy="158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AC6666DE-968D-437C-9853-50BA27066DCD}"/>
              </a:ext>
            </a:extLst>
          </p:cNvPr>
          <p:cNvSpPr/>
          <p:nvPr/>
        </p:nvSpPr>
        <p:spPr>
          <a:xfrm>
            <a:off x="6923299" y="3278171"/>
            <a:ext cx="149289" cy="158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2039593C-D36C-24C8-38A0-71FE6DD18FFF}"/>
              </a:ext>
            </a:extLst>
          </p:cNvPr>
          <p:cNvSpPr txBox="1"/>
          <p:nvPr/>
        </p:nvSpPr>
        <p:spPr>
          <a:xfrm>
            <a:off x="8995268" y="5520142"/>
            <a:ext cx="3043525" cy="307777"/>
          </a:xfrm>
          <a:prstGeom prst="rect">
            <a:avLst/>
          </a:prstGeom>
        </p:spPr>
        <p:txBody>
          <a:bodyPr wrap="none" rtlCol="0">
            <a:spAutoFit/>
          </a:bodyPr>
          <a:lstStyle/>
          <a:p>
            <a:pPr marL="0" indent="0" algn="ctr">
              <a:lnSpc>
                <a:spcPct val="100000"/>
              </a:lnSpc>
              <a:spcBef>
                <a:spcPts val="0"/>
              </a:spcBef>
              <a:buFontTx/>
              <a:buNone/>
            </a:pPr>
            <a:r>
              <a:rPr lang="en-IN" sz="1400" b="1" dirty="0">
                <a:effectLst/>
                <a:latin typeface="Calibri" panose="020F0502020204030204" pitchFamily="34" charset="0"/>
                <a:ea typeface="Calibri" panose="020F0502020204030204" pitchFamily="34" charset="0"/>
                <a:cs typeface="Times New Roman" panose="02020603050405020304" pitchFamily="18" charset="0"/>
              </a:rPr>
              <a:t>International Expansion &amp; Localization</a:t>
            </a:r>
            <a:endParaRPr lang="en-IN" sz="1400" b="1" dirty="0">
              <a:solidFill>
                <a:prstClr val="white"/>
              </a:solidFill>
              <a:latin typeface="Posterama" panose="020B0504020200020000" pitchFamily="34" charset="0"/>
              <a:ea typeface="微软雅黑"/>
              <a:cs typeface="Posterama" panose="020B0504020200020000" pitchFamily="34" charset="0"/>
            </a:endParaRPr>
          </a:p>
        </p:txBody>
      </p:sp>
      <p:sp>
        <p:nvSpPr>
          <p:cNvPr id="28" name="TextBox 27">
            <a:extLst>
              <a:ext uri="{FF2B5EF4-FFF2-40B4-BE49-F238E27FC236}">
                <a16:creationId xmlns:a16="http://schemas.microsoft.com/office/drawing/2014/main" id="{FED6D618-C716-62C8-1817-244D704D3C73}"/>
              </a:ext>
            </a:extLst>
          </p:cNvPr>
          <p:cNvSpPr txBox="1"/>
          <p:nvPr/>
        </p:nvSpPr>
        <p:spPr>
          <a:xfrm>
            <a:off x="5376357" y="3189598"/>
            <a:ext cx="1583319" cy="307777"/>
          </a:xfrm>
          <a:prstGeom prst="rect">
            <a:avLst/>
          </a:prstGeom>
        </p:spPr>
        <p:txBody>
          <a:bodyPr wrap="none" rtlCol="0">
            <a:spAutoFit/>
          </a:bodyPr>
          <a:lstStyle/>
          <a:p>
            <a:pPr marL="0" indent="0" algn="ctr">
              <a:lnSpc>
                <a:spcPct val="100000"/>
              </a:lnSpc>
              <a:spcBef>
                <a:spcPts val="0"/>
              </a:spcBef>
              <a:buFontTx/>
              <a:buNone/>
            </a:pPr>
            <a:r>
              <a:rPr lang="en-IN" sz="1400" b="1" dirty="0">
                <a:effectLst/>
                <a:latin typeface="Calibri" panose="020F0502020204030204" pitchFamily="34" charset="0"/>
                <a:ea typeface="Calibri" panose="020F0502020204030204" pitchFamily="34" charset="0"/>
                <a:cs typeface="Times New Roman" panose="02020603050405020304" pitchFamily="18" charset="0"/>
              </a:rPr>
              <a:t> Cost Management</a:t>
            </a:r>
            <a:endParaRPr lang="en-IN" sz="1400" b="1" dirty="0">
              <a:solidFill>
                <a:prstClr val="white"/>
              </a:solidFill>
              <a:latin typeface="Posterama" panose="020B0504020200020000" pitchFamily="34" charset="0"/>
              <a:ea typeface="微软雅黑"/>
              <a:cs typeface="Posterama" panose="020B0504020200020000" pitchFamily="34" charset="0"/>
            </a:endParaRPr>
          </a:p>
        </p:txBody>
      </p:sp>
      <p:sp>
        <p:nvSpPr>
          <p:cNvPr id="29" name="TextBox 28">
            <a:extLst>
              <a:ext uri="{FF2B5EF4-FFF2-40B4-BE49-F238E27FC236}">
                <a16:creationId xmlns:a16="http://schemas.microsoft.com/office/drawing/2014/main" id="{2AA69076-CA0C-2A1F-E9B4-8DD3AB79E30F}"/>
              </a:ext>
            </a:extLst>
          </p:cNvPr>
          <p:cNvSpPr txBox="1"/>
          <p:nvPr/>
        </p:nvSpPr>
        <p:spPr>
          <a:xfrm>
            <a:off x="3981790" y="4816125"/>
            <a:ext cx="2991525" cy="307777"/>
          </a:xfrm>
          <a:prstGeom prst="rect">
            <a:avLst/>
          </a:prstGeom>
        </p:spPr>
        <p:txBody>
          <a:bodyPr wrap="none" rtlCol="0">
            <a:spAutoFit/>
          </a:bodyPr>
          <a:lstStyle/>
          <a:p>
            <a:pPr marL="0" indent="0" algn="ctr">
              <a:lnSpc>
                <a:spcPct val="100000"/>
              </a:lnSpc>
              <a:spcBef>
                <a:spcPts val="0"/>
              </a:spcBef>
              <a:buFontTx/>
              <a:buNone/>
            </a:pPr>
            <a:r>
              <a:rPr lang="en-IN" sz="1400" b="1" dirty="0">
                <a:effectLst/>
                <a:latin typeface="Calibri" panose="020F0502020204030204" pitchFamily="34" charset="0"/>
                <a:ea typeface="Calibri" panose="020F0502020204030204" pitchFamily="34" charset="0"/>
                <a:cs typeface="Times New Roman" panose="02020603050405020304" pitchFamily="18" charset="0"/>
              </a:rPr>
              <a:t>Inventory Management &amp; Forecasting</a:t>
            </a:r>
            <a:endParaRPr lang="en-IN" sz="1400" b="1" dirty="0">
              <a:solidFill>
                <a:prstClr val="white"/>
              </a:solidFill>
              <a:latin typeface="Posterama" panose="020B0504020200020000" pitchFamily="34" charset="0"/>
              <a:ea typeface="微软雅黑"/>
              <a:cs typeface="Posterama" panose="020B0504020200020000" pitchFamily="34" charset="0"/>
            </a:endParaRPr>
          </a:p>
        </p:txBody>
      </p:sp>
      <p:sp>
        <p:nvSpPr>
          <p:cNvPr id="31" name="TextBox 30">
            <a:extLst>
              <a:ext uri="{FF2B5EF4-FFF2-40B4-BE49-F238E27FC236}">
                <a16:creationId xmlns:a16="http://schemas.microsoft.com/office/drawing/2014/main" id="{604D35F1-DB78-0A5F-6F49-15402BAA4718}"/>
              </a:ext>
            </a:extLst>
          </p:cNvPr>
          <p:cNvSpPr txBox="1"/>
          <p:nvPr/>
        </p:nvSpPr>
        <p:spPr>
          <a:xfrm>
            <a:off x="9003591" y="2385973"/>
            <a:ext cx="2728312" cy="307777"/>
          </a:xfrm>
          <a:prstGeom prst="rect">
            <a:avLst/>
          </a:prstGeom>
        </p:spPr>
        <p:txBody>
          <a:bodyPr wrap="none" rtlCol="0">
            <a:spAutoFit/>
          </a:bodyPr>
          <a:lstStyle/>
          <a:p>
            <a:pPr marL="0" indent="0" algn="ctr">
              <a:lnSpc>
                <a:spcPct val="100000"/>
              </a:lnSpc>
              <a:spcBef>
                <a:spcPts val="0"/>
              </a:spcBef>
              <a:buFontTx/>
              <a:buNone/>
            </a:pPr>
            <a:r>
              <a:rPr lang="en-IN" sz="1400" b="1" dirty="0">
                <a:effectLst/>
                <a:latin typeface="Calibri" panose="020F0502020204030204" pitchFamily="34" charset="0"/>
                <a:ea typeface="Calibri" panose="020F0502020204030204" pitchFamily="34" charset="0"/>
                <a:cs typeface="Times New Roman" panose="02020603050405020304" pitchFamily="18" charset="0"/>
              </a:rPr>
              <a:t>Seasonal Marketing &amp; Promotions</a:t>
            </a:r>
            <a:endParaRPr lang="en-IN" sz="1400" b="1" dirty="0">
              <a:solidFill>
                <a:prstClr val="white"/>
              </a:solidFill>
              <a:latin typeface="Posterama" panose="020B0504020200020000" pitchFamily="34" charset="0"/>
              <a:ea typeface="微软雅黑"/>
              <a:cs typeface="Posterama" panose="020B0504020200020000" pitchFamily="34" charset="0"/>
            </a:endParaRPr>
          </a:p>
        </p:txBody>
      </p:sp>
      <p:sp>
        <p:nvSpPr>
          <p:cNvPr id="32" name="TextBox 31">
            <a:extLst>
              <a:ext uri="{FF2B5EF4-FFF2-40B4-BE49-F238E27FC236}">
                <a16:creationId xmlns:a16="http://schemas.microsoft.com/office/drawing/2014/main" id="{F6AF7F72-EE54-6F6A-89DA-5CD84E3C562C}"/>
              </a:ext>
            </a:extLst>
          </p:cNvPr>
          <p:cNvSpPr txBox="1"/>
          <p:nvPr/>
        </p:nvSpPr>
        <p:spPr>
          <a:xfrm>
            <a:off x="9007395" y="3956181"/>
            <a:ext cx="1862241" cy="307777"/>
          </a:xfrm>
          <a:prstGeom prst="rect">
            <a:avLst/>
          </a:prstGeom>
        </p:spPr>
        <p:txBody>
          <a:bodyPr wrap="none" rtlCol="0">
            <a:spAutoFit/>
          </a:bodyPr>
          <a:lstStyle/>
          <a:p>
            <a:pPr marL="0" indent="0" algn="ctr">
              <a:lnSpc>
                <a:spcPct val="100000"/>
              </a:lnSpc>
              <a:spcBef>
                <a:spcPts val="0"/>
              </a:spcBef>
              <a:buFontTx/>
              <a:buNone/>
            </a:pPr>
            <a:r>
              <a:rPr lang="en-IN" sz="1400" b="1" dirty="0">
                <a:effectLst/>
                <a:latin typeface="Calibri" panose="020F0502020204030204" pitchFamily="34" charset="0"/>
                <a:ea typeface="Calibri" panose="020F0502020204030204" pitchFamily="34" charset="0"/>
                <a:cs typeface="Times New Roman" panose="02020603050405020304" pitchFamily="18" charset="0"/>
              </a:rPr>
              <a:t>Customer Engagement</a:t>
            </a:r>
            <a:endParaRPr lang="en-IN" sz="1400" b="1" dirty="0">
              <a:solidFill>
                <a:prstClr val="white"/>
              </a:solidFill>
              <a:latin typeface="Posterama" panose="020B0504020200020000" pitchFamily="34" charset="0"/>
              <a:ea typeface="微软雅黑"/>
              <a:cs typeface="Posterama" panose="020B0504020200020000" pitchFamily="34" charset="0"/>
            </a:endParaRPr>
          </a:p>
        </p:txBody>
      </p:sp>
      <p:pic>
        <p:nvPicPr>
          <p:cNvPr id="37" name="Picture 36">
            <a:extLst>
              <a:ext uri="{FF2B5EF4-FFF2-40B4-BE49-F238E27FC236}">
                <a16:creationId xmlns:a16="http://schemas.microsoft.com/office/drawing/2014/main" id="{07020AA7-9A37-B586-955E-7A217E03C8F4}"/>
              </a:ext>
            </a:extLst>
          </p:cNvPr>
          <p:cNvPicPr>
            <a:picLocks noChangeAspect="1"/>
          </p:cNvPicPr>
          <p:nvPr/>
        </p:nvPicPr>
        <p:blipFill>
          <a:blip r:embed="rId4"/>
          <a:stretch>
            <a:fillRect/>
          </a:stretch>
        </p:blipFill>
        <p:spPr>
          <a:xfrm rot="522830">
            <a:off x="3806986" y="611641"/>
            <a:ext cx="1386960" cy="1506408"/>
          </a:xfrm>
          <a:prstGeom prst="rect">
            <a:avLst/>
          </a:prstGeom>
        </p:spPr>
      </p:pic>
      <p:sp>
        <p:nvSpPr>
          <p:cNvPr id="6" name="Title 5">
            <a:extLst>
              <a:ext uri="{FF2B5EF4-FFF2-40B4-BE49-F238E27FC236}">
                <a16:creationId xmlns:a16="http://schemas.microsoft.com/office/drawing/2014/main" id="{613663CA-BA5A-41E7-1FBE-D38846DFEF75}"/>
              </a:ext>
            </a:extLst>
          </p:cNvPr>
          <p:cNvSpPr>
            <a:spLocks noGrp="1"/>
          </p:cNvSpPr>
          <p:nvPr>
            <p:ph type="title"/>
          </p:nvPr>
        </p:nvSpPr>
        <p:spPr>
          <a:xfrm>
            <a:off x="897276" y="483693"/>
            <a:ext cx="3268856" cy="540644"/>
          </a:xfrm>
        </p:spPr>
        <p:txBody>
          <a:bodyPr/>
          <a:lstStyle/>
          <a:p>
            <a:r>
              <a:rPr lang="en-US" sz="3200" dirty="0"/>
              <a:t>Recommendation</a:t>
            </a:r>
          </a:p>
        </p:txBody>
      </p:sp>
      <p:sp>
        <p:nvSpPr>
          <p:cNvPr id="26" name="TextBox 25">
            <a:extLst>
              <a:ext uri="{FF2B5EF4-FFF2-40B4-BE49-F238E27FC236}">
                <a16:creationId xmlns:a16="http://schemas.microsoft.com/office/drawing/2014/main" id="{D2894372-1D5C-51DC-D7F2-C1FDD5B02270}"/>
              </a:ext>
            </a:extLst>
          </p:cNvPr>
          <p:cNvSpPr txBox="1"/>
          <p:nvPr/>
        </p:nvSpPr>
        <p:spPr>
          <a:xfrm>
            <a:off x="4025743" y="1682757"/>
            <a:ext cx="2959593" cy="307777"/>
          </a:xfrm>
          <a:prstGeom prst="rect">
            <a:avLst/>
          </a:prstGeom>
        </p:spPr>
        <p:txBody>
          <a:bodyPr wrap="none" rtlCol="0">
            <a:spAutoFit/>
          </a:bodyPr>
          <a:lstStyle/>
          <a:p>
            <a:pPr marL="0" indent="0" algn="ctr">
              <a:lnSpc>
                <a:spcPct val="100000"/>
              </a:lnSpc>
              <a:spcBef>
                <a:spcPts val="0"/>
              </a:spcBef>
              <a:buFontTx/>
              <a:buNone/>
            </a:pPr>
            <a:r>
              <a:rPr lang="en-IN" sz="1400" b="1" dirty="0">
                <a:effectLst/>
                <a:latin typeface="Calibri" panose="020F0502020204030204" pitchFamily="34" charset="0"/>
                <a:ea typeface="Calibri" panose="020F0502020204030204" pitchFamily="34" charset="0"/>
                <a:cs typeface="Times New Roman" panose="02020603050405020304" pitchFamily="18" charset="0"/>
              </a:rPr>
              <a:t>Diversification and Market Expansion</a:t>
            </a:r>
            <a:endParaRPr lang="en-IN" sz="1400" b="1" dirty="0">
              <a:solidFill>
                <a:prstClr val="white"/>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18773653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fill="hold"/>
                                        <p:tgtEl>
                                          <p:spTgt spid="28"/>
                                        </p:tgtEl>
                                        <p:attrNameLst>
                                          <p:attrName>ppt_x</p:attrName>
                                        </p:attrNameLst>
                                      </p:cBhvr>
                                      <p:tavLst>
                                        <p:tav tm="0">
                                          <p:val>
                                            <p:strVal val="#ppt_x"/>
                                          </p:val>
                                        </p:tav>
                                        <p:tav tm="100000">
                                          <p:val>
                                            <p:strVal val="#ppt_x"/>
                                          </p:val>
                                        </p:tav>
                                      </p:tavLst>
                                    </p:anim>
                                    <p:anim calcmode="lin" valueType="num">
                                      <p:cBhvr additive="base">
                                        <p:cTn id="18" dur="500" fill="hold"/>
                                        <p:tgtEl>
                                          <p:spTgt spid="28"/>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additive="base">
                                        <p:cTn id="22" dur="500" fill="hold"/>
                                        <p:tgtEl>
                                          <p:spTgt spid="32"/>
                                        </p:tgtEl>
                                        <p:attrNameLst>
                                          <p:attrName>ppt_x</p:attrName>
                                        </p:attrNameLst>
                                      </p:cBhvr>
                                      <p:tavLst>
                                        <p:tav tm="0">
                                          <p:val>
                                            <p:strVal val="#ppt_x"/>
                                          </p:val>
                                        </p:tav>
                                        <p:tav tm="100000">
                                          <p:val>
                                            <p:strVal val="#ppt_x"/>
                                          </p:val>
                                        </p:tav>
                                      </p:tavLst>
                                    </p:anim>
                                    <p:anim calcmode="lin" valueType="num">
                                      <p:cBhvr additive="base">
                                        <p:cTn id="23" dur="500" fill="hold"/>
                                        <p:tgtEl>
                                          <p:spTgt spid="32"/>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ppt_x"/>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fill="hold"/>
                                        <p:tgtEl>
                                          <p:spTgt spid="27"/>
                                        </p:tgtEl>
                                        <p:attrNameLst>
                                          <p:attrName>ppt_x</p:attrName>
                                        </p:attrNameLst>
                                      </p:cBhvr>
                                      <p:tavLst>
                                        <p:tav tm="0">
                                          <p:val>
                                            <p:strVal val="#ppt_x"/>
                                          </p:val>
                                        </p:tav>
                                        <p:tav tm="100000">
                                          <p:val>
                                            <p:strVal val="#ppt_x"/>
                                          </p:val>
                                        </p:tav>
                                      </p:tavLst>
                                    </p:anim>
                                    <p:anim calcmode="lin" valueType="num">
                                      <p:cBhvr additive="base">
                                        <p:cTn id="33"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1" grpId="0"/>
      <p:bldP spid="32" grpId="0"/>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17</a:t>
            </a:fld>
            <a:endParaRPr lang="en-US" altLang="zh-CN" dirty="0"/>
          </a:p>
        </p:txBody>
      </p:sp>
      <p:sp>
        <p:nvSpPr>
          <p:cNvPr id="19" name="Title 45">
            <a:extLst>
              <a:ext uri="{FF2B5EF4-FFF2-40B4-BE49-F238E27FC236}">
                <a16:creationId xmlns:a16="http://schemas.microsoft.com/office/drawing/2014/main" id="{0AFB86E6-E55F-EB21-0709-984D641159FD}"/>
              </a:ext>
            </a:extLst>
          </p:cNvPr>
          <p:cNvSpPr>
            <a:spLocks noGrp="1"/>
          </p:cNvSpPr>
          <p:nvPr>
            <p:ph type="title"/>
          </p:nvPr>
        </p:nvSpPr>
        <p:spPr>
          <a:xfrm>
            <a:off x="4077476" y="254267"/>
            <a:ext cx="6251511" cy="749707"/>
          </a:xfrm>
        </p:spPr>
        <p:txBody>
          <a:bodyPr/>
          <a:lstStyle/>
          <a:p>
            <a:pPr algn="ctr"/>
            <a:r>
              <a:rPr lang="en-IN" sz="44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Recommendations</a:t>
            </a:r>
            <a:br>
              <a:rPr lang="en-IN"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22" name="TextBox 21">
            <a:extLst>
              <a:ext uri="{FF2B5EF4-FFF2-40B4-BE49-F238E27FC236}">
                <a16:creationId xmlns:a16="http://schemas.microsoft.com/office/drawing/2014/main" id="{2D6B94A6-F680-ABA2-0B04-C69FEC15B5DF}"/>
              </a:ext>
            </a:extLst>
          </p:cNvPr>
          <p:cNvSpPr txBox="1"/>
          <p:nvPr/>
        </p:nvSpPr>
        <p:spPr>
          <a:xfrm>
            <a:off x="3376398" y="1473431"/>
            <a:ext cx="8389503" cy="4650056"/>
          </a:xfrm>
          <a:prstGeom prst="rect">
            <a:avLst/>
          </a:prstGeom>
        </p:spPr>
        <p:txBody>
          <a:bodyPr wrap="square" rtlCol="0">
            <a:spAutoFit/>
          </a:bodyPr>
          <a:lstStyle/>
          <a:p>
            <a:pPr>
              <a:lnSpc>
                <a:spcPct val="107000"/>
              </a:lnSpc>
              <a:spcAft>
                <a:spcPts val="800"/>
              </a:spcAft>
            </a:pPr>
            <a:r>
              <a:rPr lang="en-IN" b="1" kern="100" dirty="0">
                <a:latin typeface="Calibri" panose="020F0502020204030204" pitchFamily="34" charset="0"/>
                <a:ea typeface="Calibri" panose="020F0502020204030204" pitchFamily="34" charset="0"/>
                <a:cs typeface="Times New Roman" panose="02020603050405020304" pitchFamily="18" charset="0"/>
              </a:rPr>
              <a:t>1</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Diversification and Market Expansion: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Explore diversification opportunities beyond the Technology category to mitigate over-reliance on a single sector.</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Invest in market expansion initiatives targeting emerging markets or niche segments to broaden customer base and revenue streams.</a:t>
            </a: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b="1" kern="100" dirty="0">
                <a:latin typeface="Calibri" panose="020F0502020204030204" pitchFamily="34" charset="0"/>
                <a:ea typeface="Calibri" panose="020F0502020204030204" pitchFamily="34" charset="0"/>
                <a:cs typeface="Times New Roman" panose="02020603050405020304" pitchFamily="18" charset="0"/>
              </a:rPr>
              <a:t>2</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Seasonal Marketing and Promotions: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Capitalize on seasonal peaks such as holiday seasons, Black Friday, and year-end sales by implementing targeted marketing campaigns and promotional offers to drive sales volume.</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Leverage data-driven insights to anticipate and respond effectively to seasonal fluctuations in consumer demand.</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9954812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18</a:t>
            </a:fld>
            <a:endParaRPr lang="en-US" altLang="zh-CN" dirty="0"/>
          </a:p>
        </p:txBody>
      </p:sp>
      <p:sp>
        <p:nvSpPr>
          <p:cNvPr id="19" name="Title 45">
            <a:extLst>
              <a:ext uri="{FF2B5EF4-FFF2-40B4-BE49-F238E27FC236}">
                <a16:creationId xmlns:a16="http://schemas.microsoft.com/office/drawing/2014/main" id="{0AFB86E6-E55F-EB21-0709-984D641159FD}"/>
              </a:ext>
            </a:extLst>
          </p:cNvPr>
          <p:cNvSpPr>
            <a:spLocks noGrp="1"/>
          </p:cNvSpPr>
          <p:nvPr>
            <p:ph type="title"/>
          </p:nvPr>
        </p:nvSpPr>
        <p:spPr>
          <a:xfrm>
            <a:off x="4077476" y="254267"/>
            <a:ext cx="6251511" cy="749707"/>
          </a:xfrm>
        </p:spPr>
        <p:txBody>
          <a:bodyPr/>
          <a:lstStyle/>
          <a:p>
            <a:pPr algn="ctr"/>
            <a:r>
              <a:rPr lang="en-IN" sz="44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Recommendations</a:t>
            </a:r>
            <a:br>
              <a:rPr lang="en-IN"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22" name="TextBox 21">
            <a:extLst>
              <a:ext uri="{FF2B5EF4-FFF2-40B4-BE49-F238E27FC236}">
                <a16:creationId xmlns:a16="http://schemas.microsoft.com/office/drawing/2014/main" id="{2D6B94A6-F680-ABA2-0B04-C69FEC15B5DF}"/>
              </a:ext>
            </a:extLst>
          </p:cNvPr>
          <p:cNvSpPr txBox="1"/>
          <p:nvPr/>
        </p:nvSpPr>
        <p:spPr>
          <a:xfrm>
            <a:off x="3329745" y="1199917"/>
            <a:ext cx="8389503" cy="5744329"/>
          </a:xfrm>
          <a:prstGeom prst="rect">
            <a:avLst/>
          </a:prstGeom>
        </p:spPr>
        <p:txBody>
          <a:bodyPr wrap="square" rtlCol="0">
            <a:spAutoFit/>
          </a:bodyPr>
          <a:lstStyle/>
          <a:p>
            <a:pPr>
              <a:lnSpc>
                <a:spcPct val="107000"/>
              </a:lnSpc>
              <a:spcAft>
                <a:spcPts val="800"/>
              </a:spcAft>
            </a:pPr>
            <a:r>
              <a:rPr lang="en-IN" b="1" kern="100" dirty="0">
                <a:latin typeface="Calibri" panose="020F0502020204030204" pitchFamily="34" charset="0"/>
                <a:ea typeface="Calibri" panose="020F0502020204030204" pitchFamily="34" charset="0"/>
                <a:cs typeface="Times New Roman" panose="02020603050405020304" pitchFamily="18" charset="0"/>
              </a:rPr>
              <a:t>3</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Operational Efficiency and Cost Management: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Implement cost optimization measures across the supply chain, including procurement, logistics, and fulfilment, to improve profit margins and streamline operations.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Leverage advanced analytics and automation technologies to enhance operational efficiency and reduce overhead costs.</a:t>
            </a: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b="1" kern="100" dirty="0">
                <a:latin typeface="Calibri" panose="020F0502020204030204" pitchFamily="34" charset="0"/>
                <a:ea typeface="Calibri" panose="020F0502020204030204" pitchFamily="34" charset="0"/>
                <a:cs typeface="Times New Roman" panose="02020603050405020304" pitchFamily="18" charset="0"/>
              </a:rPr>
              <a:t>4</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Customer Engagement and Experience Enhancement: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Prioritize customer-centric initiatives focused on enhancing shopping experience, personalized recommendations, and after-sales support to foster brand loyalty and drive repeat purchases.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Leverage customer feedback and data analytics to identify areas for improvement and tailor offerings to meet evolving consumer preferences.</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24920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19</a:t>
            </a:fld>
            <a:endParaRPr lang="en-US" altLang="zh-CN" dirty="0"/>
          </a:p>
        </p:txBody>
      </p:sp>
      <p:sp>
        <p:nvSpPr>
          <p:cNvPr id="19" name="Title 45">
            <a:extLst>
              <a:ext uri="{FF2B5EF4-FFF2-40B4-BE49-F238E27FC236}">
                <a16:creationId xmlns:a16="http://schemas.microsoft.com/office/drawing/2014/main" id="{0AFB86E6-E55F-EB21-0709-984D641159FD}"/>
              </a:ext>
            </a:extLst>
          </p:cNvPr>
          <p:cNvSpPr>
            <a:spLocks noGrp="1"/>
          </p:cNvSpPr>
          <p:nvPr>
            <p:ph type="title"/>
          </p:nvPr>
        </p:nvSpPr>
        <p:spPr>
          <a:xfrm>
            <a:off x="4077476" y="254267"/>
            <a:ext cx="6251511" cy="749707"/>
          </a:xfrm>
        </p:spPr>
        <p:txBody>
          <a:bodyPr/>
          <a:lstStyle/>
          <a:p>
            <a:pPr algn="ctr"/>
            <a:r>
              <a:rPr lang="en-IN" sz="44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Recommendations</a:t>
            </a:r>
            <a:br>
              <a:rPr lang="en-IN"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22" name="TextBox 21">
            <a:extLst>
              <a:ext uri="{FF2B5EF4-FFF2-40B4-BE49-F238E27FC236}">
                <a16:creationId xmlns:a16="http://schemas.microsoft.com/office/drawing/2014/main" id="{2D6B94A6-F680-ABA2-0B04-C69FEC15B5DF}"/>
              </a:ext>
            </a:extLst>
          </p:cNvPr>
          <p:cNvSpPr txBox="1"/>
          <p:nvPr/>
        </p:nvSpPr>
        <p:spPr>
          <a:xfrm>
            <a:off x="3263258" y="1003974"/>
            <a:ext cx="8389503" cy="6176371"/>
          </a:xfrm>
          <a:prstGeom prst="rect">
            <a:avLst/>
          </a:prstGeom>
        </p:spPr>
        <p:txBody>
          <a:bodyPr wrap="square" rtlCol="0">
            <a:spAutoFit/>
          </a:bodyPr>
          <a:lstStyle/>
          <a:p>
            <a:pPr>
              <a:lnSpc>
                <a:spcPct val="107000"/>
              </a:lnSpc>
              <a:spcAft>
                <a:spcPts val="800"/>
              </a:spcAft>
            </a:pPr>
            <a:r>
              <a:rPr lang="en-IN" b="1" kern="100" dirty="0">
                <a:latin typeface="Calibri" panose="020F0502020204030204" pitchFamily="34" charset="0"/>
                <a:ea typeface="Calibri" panose="020F0502020204030204" pitchFamily="34" charset="0"/>
                <a:cs typeface="Times New Roman" panose="02020603050405020304" pitchFamily="18" charset="0"/>
              </a:rPr>
              <a:t>5</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Inventory Management and Forecasting: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Implement robust inventory management systems supported by data analytics and demand forecasting models to optimize stock levels, minimize stockouts, and reduce holding costs.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Foster collaboration between sales, marketing, and supply chain teams to align inventory strategies with sales projections and market demand.</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7.International Expansion and Localization: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Explore opportunities for international expansion in high-growth markets while prioritizing localization efforts to adapt offerings to local preferences and regulatory requirements.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Invest in market research and strategic partnerships to navigate cultural nuances, regulatory complexities, and competitive landscapes in target regions.</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Conclusion: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Calibri" panose="020F0502020204030204" pitchFamily="34" charset="0"/>
                <a:ea typeface="Calibri" panose="020F0502020204030204" pitchFamily="34" charset="0"/>
                <a:cs typeface="Times New Roman" panose="02020603050405020304" pitchFamily="18" charset="0"/>
              </a:rPr>
              <a:t>By strategically aligning sales and profit optimization strategies with market dynamics and consumer preferences, Amazon can sustain growth, enhance profitability, and maintain its position as a market leader in the e-commerce industry.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3165775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p:txBody>
          <a:bodyPr/>
          <a:lstStyle/>
          <a:p>
            <a:r>
              <a:rPr lang="en-US" dirty="0"/>
              <a:t>Thank you</a:t>
            </a:r>
          </a:p>
        </p:txBody>
      </p:sp>
      <p:pic>
        <p:nvPicPr>
          <p:cNvPr id="14" name="Picture Placeholder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cstate="print">
            <a:extLst>
              <a:ext uri="{28A0092B-C50C-407E-A947-70E740481C1C}">
                <a14:useLocalDpi xmlns:a14="http://schemas.microsoft.com/office/drawing/2010/main"/>
              </a:ext>
            </a:extLst>
          </a:blip>
          <a:srcRect/>
          <a:stretch/>
        </p:blipFill>
        <p:spPr/>
      </p:pic>
      <p:pic>
        <p:nvPicPr>
          <p:cNvPr id="16" name="Picture Placeholder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cstate="print">
            <a:extLst>
              <a:ext uri="{28A0092B-C50C-407E-A947-70E740481C1C}">
                <a14:useLocalDpi xmlns:a14="http://schemas.microsoft.com/office/drawing/2010/main"/>
              </a:ext>
            </a:extLst>
          </a:blip>
          <a:srcRect/>
          <a:stretch/>
        </p:blipFill>
        <p:spPr/>
      </p:pic>
      <p:pic>
        <p:nvPicPr>
          <p:cNvPr id="18" name="Picture Placeholder 17" descr="Layout of website design sketches on white pap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5" cstate="print">
            <a:extLst>
              <a:ext uri="{28A0092B-C50C-407E-A947-70E740481C1C}">
                <a14:useLocalDpi xmlns:a14="http://schemas.microsoft.com/office/drawing/2010/main"/>
              </a:ext>
            </a:extLst>
          </a:blip>
          <a:srcRect/>
          <a:stretch/>
        </p:blipFill>
        <p:spPr/>
      </p:pic>
      <p:pic>
        <p:nvPicPr>
          <p:cNvPr id="28" name="Picture Placeholder 27" descr="Businesswoman reviewing sticky notes on a wall">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6" cstate="print">
            <a:extLst>
              <a:ext uri="{28A0092B-C50C-407E-A947-70E740481C1C}">
                <a14:useLocalDpi xmlns:a14="http://schemas.microsoft.com/office/drawing/2010/main"/>
              </a:ext>
            </a:extLst>
          </a:blip>
          <a:srcRect/>
          <a:stretch>
            <a:fillRect/>
          </a:stretch>
        </p:blipFill>
        <p:spPr/>
      </p:pic>
      <p:pic>
        <p:nvPicPr>
          <p:cNvPr id="4" name="Picture 3">
            <a:extLst>
              <a:ext uri="{FF2B5EF4-FFF2-40B4-BE49-F238E27FC236}">
                <a16:creationId xmlns:a16="http://schemas.microsoft.com/office/drawing/2014/main" id="{61013F64-B67D-8835-7157-EA758DAE5A16}"/>
              </a:ext>
            </a:extLst>
          </p:cNvPr>
          <p:cNvPicPr>
            <a:picLocks noChangeAspect="1"/>
          </p:cNvPicPr>
          <p:nvPr/>
        </p:nvPicPr>
        <p:blipFill>
          <a:blip r:embed="rId7"/>
          <a:stretch>
            <a:fillRect/>
          </a:stretch>
        </p:blipFill>
        <p:spPr>
          <a:xfrm>
            <a:off x="10160" y="6244798"/>
            <a:ext cx="1811560" cy="612109"/>
          </a:xfrm>
          <a:prstGeom prst="rect">
            <a:avLst/>
          </a:prstGeom>
        </p:spPr>
      </p:pic>
    </p:spTree>
    <p:extLst>
      <p:ext uri="{BB962C8B-B14F-4D97-AF65-F5344CB8AC3E}">
        <p14:creationId xmlns:p14="http://schemas.microsoft.com/office/powerpoint/2010/main" val="52927941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presentation light - tm89027928_Win22_jx_v15" id="{E4F720B1-AC3A-441F-B00A-6ECF71D2AB0C}" vid="{71933BEE-9DD7-4D62-B50F-A654080E9C9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E0D8C9A-C895-482B-B501-694996FFDE4D}">
  <ds:schemaRefs>
    <ds:schemaRef ds:uri="http://schemas.microsoft.com/sharepoint/v3/contenttype/forms"/>
  </ds:schemaRefs>
</ds:datastoreItem>
</file>

<file path=customXml/itemProps2.xml><?xml version="1.0" encoding="utf-8"?>
<ds:datastoreItem xmlns:ds="http://schemas.openxmlformats.org/officeDocument/2006/customXml" ds:itemID="{C511997D-2559-4D54-8469-327570B187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4AD51DF-C727-4608-B606-5D6C957D4C4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2783</TotalTime>
  <Words>1880</Words>
  <Application>Microsoft Office PowerPoint</Application>
  <PresentationFormat>Widescreen</PresentationFormat>
  <Paragraphs>189</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等线</vt:lpstr>
      <vt:lpstr>Abadi</vt:lpstr>
      <vt:lpstr>Arial</vt:lpstr>
      <vt:lpstr>Calibri</vt:lpstr>
      <vt:lpstr>Posterama</vt:lpstr>
      <vt:lpstr>Posterama Text Black</vt:lpstr>
      <vt:lpstr>Posterama Text SemiBold</vt:lpstr>
      <vt:lpstr>Wingdings</vt:lpstr>
      <vt:lpstr>Custom</vt:lpstr>
      <vt:lpstr>Amazon Sales Data Analysis</vt:lpstr>
      <vt:lpstr>PowerPoint Presentation</vt:lpstr>
      <vt:lpstr>Agenda</vt:lpstr>
      <vt:lpstr>Problem Statement</vt:lpstr>
      <vt:lpstr>Primary goals</vt:lpstr>
      <vt:lpstr>PowerPoint Presentation</vt:lpstr>
      <vt:lpstr>PowerPoint Presentation</vt:lpstr>
      <vt:lpstr>Sales and Profit Analysis</vt:lpstr>
      <vt:lpstr>Sales and Profit Analysis</vt:lpstr>
      <vt:lpstr>Sales and Profit Trends</vt:lpstr>
      <vt:lpstr>Sales and Profit Trends</vt:lpstr>
      <vt:lpstr>Sales and Profit Trends</vt:lpstr>
      <vt:lpstr>Insights</vt:lpstr>
      <vt:lpstr>Insights </vt:lpstr>
      <vt:lpstr>Insights </vt:lpstr>
      <vt:lpstr>Recommendation</vt:lpstr>
      <vt:lpstr>Recommendations </vt:lpstr>
      <vt:lpstr>Recommendations </vt:lpstr>
      <vt:lpstr>Recommendations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
  <cp:lastModifiedBy>Rohan Gaikwad</cp:lastModifiedBy>
  <cp:revision>103</cp:revision>
  <dcterms:created xsi:type="dcterms:W3CDTF">2024-04-26T05:55:00Z</dcterms:created>
  <dcterms:modified xsi:type="dcterms:W3CDTF">2024-12-27T09:12:17Z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